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0" roundtripDataSignature="AMtx7mgBpPqAh9MV0Vwyghwv2jChXLei0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0" Type="http://customschemas.google.com/relationships/presentationmetadata" Target="metadata"/><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100">
                <a:latin typeface="Arial"/>
                <a:ea typeface="Arial"/>
                <a:cs typeface="Arial"/>
                <a:sym typeface="Arial"/>
              </a:rPr>
              <a:t>I started this project with a very specific set of constraints, and those constraints drove almost every design decision — especially around identity and access.</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100">
                <a:latin typeface="Arial"/>
                <a:ea typeface="Arial"/>
                <a:cs typeface="Arial"/>
                <a:sym typeface="Arial"/>
              </a:rPr>
              <a:t>The core goal was to deploy a standard Kubernetes cluster using kubeadm, but the real challenge was making sure a non-admin user could deploy and manage their workloads safely. That meant relying on certificate-based authentication and strictly namespace-scoped RBAC.</a:t>
            </a:r>
            <a:endParaRPr sz="1100">
              <a:latin typeface="Arial"/>
              <a:ea typeface="Arial"/>
              <a:cs typeface="Arial"/>
              <a:sym typeface="Arial"/>
            </a:endParaRPr>
          </a:p>
          <a:p>
            <a:pPr indent="0" lvl="0" marL="0" rtl="0" algn="l">
              <a:lnSpc>
                <a:spcPct val="115000"/>
              </a:lnSpc>
              <a:spcBef>
                <a:spcPts val="0"/>
              </a:spcBef>
              <a:spcAft>
                <a:spcPts val="0"/>
              </a:spcAft>
              <a:buSzPts val="1100"/>
              <a:buNone/>
            </a:pPr>
            <a:r>
              <a:rPr lang="en-US" sz="1100">
                <a:latin typeface="Arial"/>
                <a:ea typeface="Arial"/>
                <a:cs typeface="Arial"/>
                <a:sym typeface="Arial"/>
              </a:rPr>
              <a:t>This wasn’t just about getting something running. The solution needed to be reproducible, explainable, and easy to reason about — both from a security and an operational perspective. That focus on clarity and least privilege shaped the entire architecture.</a:t>
            </a:r>
            <a:br>
              <a:rPr lang="en-US" sz="1100">
                <a:latin typeface="Arial"/>
                <a:ea typeface="Arial"/>
                <a:cs typeface="Arial"/>
                <a:sym typeface="Arial"/>
              </a:rPr>
            </a:br>
            <a:br>
              <a:rPr lang="en-US" sz="1100">
                <a:latin typeface="Arial"/>
                <a:ea typeface="Arial"/>
                <a:cs typeface="Arial"/>
                <a:sym typeface="Arial"/>
              </a:rPr>
            </a:br>
            <a:r>
              <a:rPr lang="en-US" sz="1100">
                <a:latin typeface="Arial"/>
                <a:ea typeface="Arial"/>
                <a:cs typeface="Arial"/>
                <a:sym typeface="Arial"/>
              </a:rPr>
              <a:t>To support that goal of reproducibility, I also scripted the installation as much as possible. That includes standardizing the host configuration — things like kernel and cgroup settings — so the cluster behaves predictably and avoids common kubeadm incompatibilities.</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100">
                <a:latin typeface="Arial"/>
                <a:ea typeface="Arial"/>
                <a:cs typeface="Arial"/>
                <a:sym typeface="Arial"/>
              </a:rPr>
              <a:t>The intent wasn’t deep OS tuning, but reducing environmental drift and eliminating an entire class of setup issues before they show up as problems later.</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br>
              <a:rPr lang="en-US" sz="1100">
                <a:latin typeface="Arial"/>
                <a:ea typeface="Arial"/>
                <a:cs typeface="Arial"/>
                <a:sym typeface="Arial"/>
              </a:rPr>
            </a:br>
            <a:r>
              <a:rPr lang="en-US" sz="1100">
                <a:latin typeface="Arial"/>
                <a:ea typeface="Arial"/>
                <a:cs typeface="Arial"/>
                <a:sym typeface="Arial"/>
              </a:rPr>
              <a:t>Now I’ll walk through how the cluster is structured.</a:t>
            </a:r>
            <a:endParaRPr sz="1100">
              <a:latin typeface="Arial"/>
              <a:ea typeface="Arial"/>
              <a:cs typeface="Arial"/>
              <a:sym typeface="Arial"/>
            </a:endParaRPr>
          </a:p>
          <a:p>
            <a:pPr indent="0" lvl="0" marL="0" rtl="0" algn="l">
              <a:spcBef>
                <a:spcPts val="0"/>
              </a:spcBef>
              <a:spcAft>
                <a:spcPts val="0"/>
              </a:spcAft>
              <a:buNone/>
            </a:pPr>
            <a:r>
              <a:t/>
            </a:r>
            <a:endParaRPr sz="1100">
              <a:solidFill>
                <a:srgbClr val="FFFFFF"/>
              </a:solidFill>
              <a:latin typeface="Arial"/>
              <a:ea typeface="Arial"/>
              <a:cs typeface="Arial"/>
              <a:sym typeface="Arial"/>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a:t>T</a:t>
            </a:r>
            <a:r>
              <a:rPr lang="en-US"/>
              <a:t>he architecture itself is intentionally simple. I kept this very close to upstream Kubernetes, so there’s nothing magical happening under the hood.</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SzPts val="1100"/>
              <a:buNone/>
            </a:pPr>
            <a:r>
              <a:rPr lang="en-US"/>
              <a:t>The cluster follows a standard topology — one control plane and two worker nodes — and uses only native Kubernetes primitives. One important call-out is that the control plane is intentionally not redundant. That was a deliberate tradeoff to keep the focus on access control, identity, and operational clarity rather than availability mechanics.</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SzPts val="1100"/>
              <a:buNone/>
            </a:pPr>
            <a:r>
              <a:rPr lang="en-US"/>
              <a:t>The key idea here is that the security model is explicit and easy to reason about: identity maps to RBAC, and RBAC maps directly to a namespace. That clarity is what makes the system auditable, predictable, and supportable over time.</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US"/>
              <a:t>With that foundation in place, the most important question becomes how users actually get access to the cluster.</a:t>
            </a:r>
            <a:endParaRPr/>
          </a:p>
          <a:p>
            <a:pPr indent="0" lvl="0" marL="0" rtl="0" algn="l">
              <a:spcBef>
                <a:spcPts val="0"/>
              </a:spcBef>
              <a:spcAft>
                <a:spcPts val="0"/>
              </a:spcAft>
              <a:buNone/>
            </a:pPr>
            <a:r>
              <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a:t>This slide covers the core of the security model — how users are identified and how their access is enforced.</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SzPts val="1100"/>
              <a:buNone/>
            </a:pPr>
            <a:r>
              <a:rPr lang="en-US"/>
              <a:t>Everything starts with strong authentication. Users authenticate to the cluster using X.509 certificates, which gives us a cryptographically verifiable identity that Kubernetes natively understands.</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US"/>
              <a:t>User onboarding is handled through the Kubernetes Certificate Signing Request, or CSR, workflow. That means every user identity is explicitly requested and explicitly approved before it becomes valid. Kubernetes itself acts as the identity broker here.</a:t>
            </a:r>
            <a:endParaRPr/>
          </a:p>
          <a:p>
            <a:pPr indent="0" lvl="0" marL="0" rtl="0" algn="l">
              <a:lnSpc>
                <a:spcPct val="115000"/>
              </a:lnSpc>
              <a:spcBef>
                <a:spcPts val="0"/>
              </a:spcBef>
              <a:spcAft>
                <a:spcPts val="0"/>
              </a:spcAft>
              <a:buSzPts val="1100"/>
              <a:buNone/>
            </a:pPr>
            <a:r>
              <a:rPr lang="en-US"/>
              <a:t>Once a user is authenticated, authorization is enforced through namespace-scoped RBAC bindings. This is where the principle of least privilege is applied. No user receives cluster-admin access — their permissions are limited strictly to the namespace they operate in, which defines their blast radius.</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SzPts val="1100"/>
              <a:buNone/>
            </a:pPr>
            <a:r>
              <a:rPr lang="en-US"/>
              <a:t>At a high level, creating a user follows a very explicit workflow. First, a namespace is created to establish the user’s operational boundary. A private key and certificate signing request are generated for the user and submitted to the Kubernetes API. That request must then be explicitly approved, which acts as a clear trust gate.</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SzPts val="1100"/>
              <a:buNone/>
            </a:pPr>
            <a:r>
              <a:rPr lang="en-US"/>
              <a:t>Once the identity exists, it’s bound to a namespace-scoped role that defines exactly what actions the user can perform. Finally, a kubeconfig is generated that ties together the user identity, the cluster, and the namespace. Before handing that off, permissions are validated to ensure they behave exactly as expected.</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SzPts val="1100"/>
              <a:buNone/>
            </a:pPr>
            <a:r>
              <a:rPr lang="en-US"/>
              <a:t>This identity-to-RBAC flow is the backbone of the security posture. It’s explicit, auditable, and easy to reason about when something goes wrong.</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US"/>
              <a:t>That said, this approach isn’t perfect, so the next thing to talk about is where the rough edges and operational limits start to appear.</a:t>
            </a:r>
            <a:endParaRPr/>
          </a:p>
          <a:p>
            <a:pPr indent="0" lvl="0" marL="0" rtl="0" algn="l">
              <a:spcBef>
                <a:spcPts val="0"/>
              </a:spcBef>
              <a:spcAft>
                <a:spcPts val="0"/>
              </a:spcAft>
              <a:buNone/>
            </a:pPr>
            <a:r>
              <a:t/>
            </a:r>
            <a:endParaRPr/>
          </a:p>
        </p:txBody>
      </p:sp>
      <p:sp>
        <p:nvSpPr>
          <p:cNvPr id="49" name="Google Shape;4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a:t>This is where the limitations of the current design start to show. While the model is secure and easy to reason about at small scale, it does have some sharp edges operationally.</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SzPts val="1100"/>
              <a:buNone/>
            </a:pPr>
            <a:r>
              <a:rPr lang="en-US"/>
              <a:t>The biggest challenge is certificate lifecycle management. With client certificates, rotation and expiration are manual unless you build automation around them, and that approach doesn’t scale well beyond a small number of users.</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SzPts val="1100"/>
              <a:buNone/>
            </a:pPr>
            <a:r>
              <a:rPr lang="en-US"/>
              <a:t>RBAC complexity also grows quickly as you add more users and namespaces. Even with good conventions, managing roles and bindings becomes increasingly difficult to reason about over time.</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SzPts val="1100"/>
              <a:buNone/>
            </a:pPr>
            <a:r>
              <a:rPr lang="en-US"/>
              <a:t>Kubeconfig distribution is another weak point. These files are portable, but that also makes them easy to misconfigure, mishandle, or lose, which creates operational risk.</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SzPts val="1100"/>
              <a:buNone/>
            </a:pPr>
            <a:r>
              <a:rPr lang="en-US"/>
              <a:t>Finally, while Kubernetes provides basic auditing, it’s limited out-of-the-box. Gaining clear visibility into who accessed what, and when, requires additional tooling.</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US"/>
              <a:t>These are the kinds of real-world operational challenges that inform what I’d want to improve next.</a:t>
            </a:r>
            <a:endParaRPr/>
          </a:p>
          <a:p>
            <a:pPr indent="0" lvl="0" marL="0" rtl="0" algn="l">
              <a:spcBef>
                <a:spcPts val="0"/>
              </a:spcBef>
              <a:spcAft>
                <a:spcPts val="0"/>
              </a:spcAft>
              <a:buNone/>
            </a:pPr>
            <a:r>
              <a:t/>
            </a:r>
            <a:endParaRPr/>
          </a:p>
        </p:txBody>
      </p:sp>
      <p:sp>
        <p:nvSpPr>
          <p:cNvPr id="70" name="Google Shape;7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a:t>Looking ahead, the next iterations focus on reducing operational burden and increasing visibility.</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SzPts val="1100"/>
              <a:buNone/>
            </a:pPr>
            <a:r>
              <a:rPr lang="en-US"/>
              <a:t>First, I’d move application delivery to a GitOps workflow using something like ArgoCD or Flux. That shifts application lifecycle management out of manual processes and makes deployments consistent, auditable, and reversible.</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SzPts val="1100"/>
              <a:buNone/>
            </a:pPr>
            <a:r>
              <a:rPr lang="en-US"/>
              <a:t>Identity is the next big area. Certificate issuance, rotation, and revocation need to be automated to remove the manual overhead and reduce the risk of stale credentials.</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SzPts val="1100"/>
              <a:buNone/>
            </a:pPr>
            <a:r>
              <a:rPr lang="en-US"/>
              <a:t>Visibility is the other major gap. Stronger audit logging and access visibility would give us a clear view into who accessed the cluster, what actions they took, and when.</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SzPts val="1100"/>
              <a:buNone/>
            </a:pPr>
            <a:r>
              <a:rPr lang="en-US"/>
              <a:t>Finally, I’d make the separation between platform and application responsibilities explicit and enforced. Platform teams would own cluster infrastructure, identity, and access policies, while application teams would own deployments within clearly defined boundaries. That removes ambiguity and prevents accidental privilege creep as the system grows.</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US"/>
              <a:t>With that context in place, I’ll switch over to the demo.</a:t>
            </a:r>
            <a:endParaRPr/>
          </a:p>
          <a:p>
            <a:pPr indent="0" lvl="0" marL="0" rtl="0" algn="l">
              <a:spcBef>
                <a:spcPts val="0"/>
              </a:spcBef>
              <a:spcAft>
                <a:spcPts val="0"/>
              </a:spcAft>
              <a:buNone/>
            </a:pPr>
            <a:r>
              <a:t/>
            </a:r>
            <a:endParaRPr/>
          </a:p>
        </p:txBody>
      </p:sp>
      <p:sp>
        <p:nvSpPr>
          <p:cNvPr id="91" name="Google Shape;9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descr="preencoded.png" id="16" name="Google Shape;16;p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7" name="Google Shape;17;p1"/>
          <p:cNvSpPr/>
          <p:nvPr/>
        </p:nvSpPr>
        <p:spPr>
          <a:xfrm>
            <a:off x="0" y="0"/>
            <a:ext cx="3200400" cy="5143500"/>
          </a:xfrm>
          <a:prstGeom prst="rect">
            <a:avLst/>
          </a:prstGeom>
          <a:solidFill>
            <a:srgbClr val="F0F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3171825" y="0"/>
            <a:ext cx="28575" cy="5143500"/>
          </a:xfrm>
          <a:prstGeom prst="rect">
            <a:avLst/>
          </a:prstGeom>
          <a:solidFill>
            <a:srgbClr val="0047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428625" y="942975"/>
            <a:ext cx="2343150" cy="1388678"/>
          </a:xfrm>
          <a:prstGeom prst="rect">
            <a:avLst/>
          </a:prstGeom>
          <a:noFill/>
          <a:ln>
            <a:noFill/>
          </a:ln>
        </p:spPr>
        <p:txBody>
          <a:bodyPr anchorCtr="0" anchor="t" bIns="0" lIns="0" spcFirstLastPara="1" rIns="0" wrap="square" tIns="0">
            <a:spAutoFit/>
          </a:bodyPr>
          <a:lstStyle/>
          <a:p>
            <a:pPr indent="0" lvl="0" marL="0" marR="0" rtl="0" algn="l">
              <a:lnSpc>
                <a:spcPct val="96488"/>
              </a:lnSpc>
              <a:spcBef>
                <a:spcPts val="0"/>
              </a:spcBef>
              <a:spcAft>
                <a:spcPts val="0"/>
              </a:spcAft>
              <a:buClr>
                <a:srgbClr val="0047BB"/>
              </a:buClr>
              <a:buSzPts val="3731"/>
              <a:buFont typeface="Calibri"/>
              <a:buNone/>
            </a:pPr>
            <a:r>
              <a:rPr b="1" i="0" lang="en-US" sz="3731" u="none" cap="none" strike="noStrike">
                <a:solidFill>
                  <a:srgbClr val="0047BB"/>
                </a:solidFill>
                <a:latin typeface="Calibri"/>
                <a:ea typeface="Calibri"/>
                <a:cs typeface="Calibri"/>
                <a:sym typeface="Calibri"/>
              </a:rPr>
              <a:t>Problem</a:t>
            </a:r>
            <a:br>
              <a:rPr b="1" i="0" lang="en-US" sz="3731" u="none" cap="none" strike="noStrike">
                <a:solidFill>
                  <a:srgbClr val="0047BB"/>
                </a:solidFill>
                <a:latin typeface="Calibri"/>
                <a:ea typeface="Calibri"/>
                <a:cs typeface="Calibri"/>
                <a:sym typeface="Calibri"/>
              </a:rPr>
            </a:br>
            <a:r>
              <a:rPr b="1" i="0" lang="en-US" sz="3731" u="none" cap="none" strike="noStrike">
                <a:solidFill>
                  <a:srgbClr val="0047BB"/>
                </a:solidFill>
                <a:latin typeface="Calibri"/>
                <a:ea typeface="Calibri"/>
                <a:cs typeface="Calibri"/>
                <a:sym typeface="Calibri"/>
              </a:rPr>
              <a:t>Statement</a:t>
            </a:r>
            <a:endParaRPr b="0" i="0" sz="3731" u="none" cap="none" strike="noStrike">
              <a:solidFill>
                <a:schemeClr val="dk1"/>
              </a:solidFill>
              <a:latin typeface="Calibri"/>
              <a:ea typeface="Calibri"/>
              <a:cs typeface="Calibri"/>
              <a:sym typeface="Calibri"/>
            </a:endParaRPr>
          </a:p>
        </p:txBody>
      </p:sp>
      <p:sp>
        <p:nvSpPr>
          <p:cNvPr id="20" name="Google Shape;20;p1"/>
          <p:cNvSpPr/>
          <p:nvPr/>
        </p:nvSpPr>
        <p:spPr>
          <a:xfrm>
            <a:off x="428625" y="2617403"/>
            <a:ext cx="2343150" cy="233958"/>
          </a:xfrm>
          <a:prstGeom prst="rect">
            <a:avLst/>
          </a:prstGeom>
          <a:noFill/>
          <a:ln>
            <a:noFill/>
          </a:ln>
        </p:spPr>
        <p:txBody>
          <a:bodyPr anchorCtr="0" anchor="t" bIns="0" lIns="0" spcFirstLastPara="1" rIns="0" wrap="square" tIns="0">
            <a:spAutoFit/>
          </a:bodyPr>
          <a:lstStyle/>
          <a:p>
            <a:pPr indent="0" lvl="0" marL="0" marR="0" rtl="0" algn="l">
              <a:lnSpc>
                <a:spcPct val="126083"/>
              </a:lnSpc>
              <a:spcBef>
                <a:spcPts val="0"/>
              </a:spcBef>
              <a:spcAft>
                <a:spcPts val="0"/>
              </a:spcAft>
              <a:buClr>
                <a:srgbClr val="1A1A1A"/>
              </a:buClr>
              <a:buSzPts val="1269"/>
              <a:buFont typeface="Calibri"/>
              <a:buNone/>
            </a:pPr>
            <a:r>
              <a:rPr b="0" i="0" lang="en-US" sz="1269" u="none" cap="none" strike="noStrike">
                <a:solidFill>
                  <a:srgbClr val="1A1A1A"/>
                </a:solidFill>
                <a:latin typeface="Calibri"/>
                <a:ea typeface="Calibri"/>
                <a:cs typeface="Calibri"/>
                <a:sym typeface="Calibri"/>
              </a:rPr>
              <a:t>Constraints &amp; Context</a:t>
            </a:r>
            <a:endParaRPr b="0" i="0" sz="1269" u="none" cap="none" strike="noStrike">
              <a:solidFill>
                <a:schemeClr val="dk1"/>
              </a:solidFill>
              <a:latin typeface="Calibri"/>
              <a:ea typeface="Calibri"/>
              <a:cs typeface="Calibri"/>
              <a:sym typeface="Calibri"/>
            </a:endParaRPr>
          </a:p>
        </p:txBody>
      </p:sp>
      <p:sp>
        <p:nvSpPr>
          <p:cNvPr id="21" name="Google Shape;21;p1"/>
          <p:cNvSpPr/>
          <p:nvPr/>
        </p:nvSpPr>
        <p:spPr>
          <a:xfrm>
            <a:off x="4100513" y="954472"/>
            <a:ext cx="4471988" cy="594327"/>
          </a:xfrm>
          <a:prstGeom prst="rect">
            <a:avLst/>
          </a:prstGeom>
          <a:noFill/>
          <a:ln>
            <a:noFill/>
          </a:ln>
        </p:spPr>
        <p:txBody>
          <a:bodyPr anchorCtr="0" anchor="t" bIns="0" lIns="0" spcFirstLastPara="1" rIns="0" wrap="square" tIns="0">
            <a:spAutoFit/>
          </a:bodyPr>
          <a:lstStyle/>
          <a:p>
            <a:pPr indent="0" lvl="0" marL="0" marR="0" rtl="0" algn="l">
              <a:lnSpc>
                <a:spcPct val="143570"/>
              </a:lnSpc>
              <a:spcBef>
                <a:spcPts val="0"/>
              </a:spcBef>
              <a:spcAft>
                <a:spcPts val="0"/>
              </a:spcAft>
              <a:buClr>
                <a:srgbClr val="1A1A1A"/>
              </a:buClr>
              <a:buSzPts val="1602"/>
              <a:buFont typeface="Calibri"/>
              <a:buNone/>
            </a:pPr>
            <a:r>
              <a:rPr b="1" i="0" lang="en-US" sz="1602" u="none" cap="none" strike="noStrike">
                <a:solidFill>
                  <a:srgbClr val="1A1A1A"/>
                </a:solidFill>
                <a:latin typeface="Calibri"/>
                <a:ea typeface="Calibri"/>
                <a:cs typeface="Calibri"/>
                <a:sym typeface="Calibri"/>
              </a:rPr>
              <a:t>kubeadm-based Kubernetes cluster deployment</a:t>
            </a:r>
            <a:endParaRPr b="0" i="0" sz="1602" u="none" cap="none" strike="noStrike">
              <a:solidFill>
                <a:schemeClr val="dk1"/>
              </a:solidFill>
              <a:latin typeface="Calibri"/>
              <a:ea typeface="Calibri"/>
              <a:cs typeface="Calibri"/>
              <a:sym typeface="Calibri"/>
            </a:endParaRPr>
          </a:p>
        </p:txBody>
      </p:sp>
      <p:sp>
        <p:nvSpPr>
          <p:cNvPr id="22" name="Google Shape;22;p1"/>
          <p:cNvSpPr/>
          <p:nvPr/>
        </p:nvSpPr>
        <p:spPr>
          <a:xfrm>
            <a:off x="4100513" y="1683269"/>
            <a:ext cx="4472100" cy="594300"/>
          </a:xfrm>
          <a:prstGeom prst="rect">
            <a:avLst/>
          </a:prstGeom>
          <a:noFill/>
          <a:ln>
            <a:noFill/>
          </a:ln>
        </p:spPr>
        <p:txBody>
          <a:bodyPr anchorCtr="0" anchor="t" bIns="0" lIns="0" spcFirstLastPara="1" rIns="0" wrap="square" tIns="0">
            <a:spAutoFit/>
          </a:bodyPr>
          <a:lstStyle/>
          <a:p>
            <a:pPr indent="0" lvl="0" marL="0" marR="0" rtl="0" algn="l">
              <a:lnSpc>
                <a:spcPct val="143570"/>
              </a:lnSpc>
              <a:spcBef>
                <a:spcPts val="0"/>
              </a:spcBef>
              <a:spcAft>
                <a:spcPts val="0"/>
              </a:spcAft>
              <a:buClr>
                <a:srgbClr val="1A1A1A"/>
              </a:buClr>
              <a:buSzPts val="1602"/>
              <a:buFont typeface="Calibri"/>
              <a:buNone/>
            </a:pPr>
            <a:r>
              <a:rPr b="1" i="0" lang="en-US" sz="1602" u="none" cap="none" strike="noStrike">
                <a:solidFill>
                  <a:srgbClr val="1A1A1A"/>
                </a:solidFill>
                <a:latin typeface="Calibri"/>
                <a:ea typeface="Calibri"/>
                <a:cs typeface="Calibri"/>
                <a:sym typeface="Calibri"/>
              </a:rPr>
              <a:t>Non-admin user deploys &amp; manages Nginx workloads</a:t>
            </a:r>
            <a:endParaRPr b="0" i="0" sz="1602" u="none" cap="none" strike="noStrike">
              <a:solidFill>
                <a:schemeClr val="dk1"/>
              </a:solidFill>
              <a:latin typeface="Calibri"/>
              <a:ea typeface="Calibri"/>
              <a:cs typeface="Calibri"/>
              <a:sym typeface="Calibri"/>
            </a:endParaRPr>
          </a:p>
        </p:txBody>
      </p:sp>
      <p:sp>
        <p:nvSpPr>
          <p:cNvPr id="23" name="Google Shape;23;p1"/>
          <p:cNvSpPr/>
          <p:nvPr/>
        </p:nvSpPr>
        <p:spPr>
          <a:xfrm>
            <a:off x="4100513" y="2606568"/>
            <a:ext cx="4472100" cy="594300"/>
          </a:xfrm>
          <a:prstGeom prst="rect">
            <a:avLst/>
          </a:prstGeom>
          <a:noFill/>
          <a:ln>
            <a:noFill/>
          </a:ln>
        </p:spPr>
        <p:txBody>
          <a:bodyPr anchorCtr="0" anchor="t" bIns="0" lIns="0" spcFirstLastPara="1" rIns="0" wrap="square" tIns="0">
            <a:spAutoFit/>
          </a:bodyPr>
          <a:lstStyle/>
          <a:p>
            <a:pPr indent="0" lvl="0" marL="0" marR="0" rtl="0" algn="l">
              <a:lnSpc>
                <a:spcPct val="143570"/>
              </a:lnSpc>
              <a:spcBef>
                <a:spcPts val="0"/>
              </a:spcBef>
              <a:spcAft>
                <a:spcPts val="0"/>
              </a:spcAft>
              <a:buClr>
                <a:srgbClr val="1A1A1A"/>
              </a:buClr>
              <a:buSzPts val="1602"/>
              <a:buFont typeface="Calibri"/>
              <a:buNone/>
            </a:pPr>
            <a:r>
              <a:rPr b="1" i="0" lang="en-US" sz="1602" u="none" cap="none" strike="noStrike">
                <a:solidFill>
                  <a:srgbClr val="1A1A1A"/>
                </a:solidFill>
                <a:latin typeface="Calibri"/>
                <a:ea typeface="Calibri"/>
                <a:cs typeface="Calibri"/>
                <a:sym typeface="Calibri"/>
              </a:rPr>
              <a:t>Certificate-based authentication + namespace-scoped RBAC</a:t>
            </a:r>
            <a:endParaRPr b="0" i="0" sz="1602" u="none" cap="none" strike="noStrike">
              <a:solidFill>
                <a:schemeClr val="dk1"/>
              </a:solidFill>
              <a:latin typeface="Calibri"/>
              <a:ea typeface="Calibri"/>
              <a:cs typeface="Calibri"/>
              <a:sym typeface="Calibri"/>
            </a:endParaRPr>
          </a:p>
        </p:txBody>
      </p:sp>
      <p:sp>
        <p:nvSpPr>
          <p:cNvPr id="24" name="Google Shape;24;p1"/>
          <p:cNvSpPr/>
          <p:nvPr/>
        </p:nvSpPr>
        <p:spPr>
          <a:xfrm>
            <a:off x="4100513" y="3594702"/>
            <a:ext cx="4471988" cy="594327"/>
          </a:xfrm>
          <a:prstGeom prst="rect">
            <a:avLst/>
          </a:prstGeom>
          <a:noFill/>
          <a:ln>
            <a:noFill/>
          </a:ln>
        </p:spPr>
        <p:txBody>
          <a:bodyPr anchorCtr="0" anchor="t" bIns="0" lIns="0" spcFirstLastPara="1" rIns="0" wrap="square" tIns="0">
            <a:spAutoFit/>
          </a:bodyPr>
          <a:lstStyle/>
          <a:p>
            <a:pPr indent="0" lvl="0" marL="0" marR="0" rtl="0" algn="l">
              <a:lnSpc>
                <a:spcPct val="143570"/>
              </a:lnSpc>
              <a:spcBef>
                <a:spcPts val="0"/>
              </a:spcBef>
              <a:spcAft>
                <a:spcPts val="0"/>
              </a:spcAft>
              <a:buClr>
                <a:srgbClr val="1A1A1A"/>
              </a:buClr>
              <a:buSzPts val="1602"/>
              <a:buFont typeface="Calibri"/>
              <a:buNone/>
            </a:pPr>
            <a:r>
              <a:rPr b="1" i="0" lang="en-US" sz="1602" u="none" cap="none" strike="noStrike">
                <a:solidFill>
                  <a:srgbClr val="1A1A1A"/>
                </a:solidFill>
                <a:latin typeface="Calibri"/>
                <a:ea typeface="Calibri"/>
                <a:cs typeface="Calibri"/>
                <a:sym typeface="Calibri"/>
              </a:rPr>
              <a:t>Reproducible and explainable architecture</a:t>
            </a:r>
            <a:endParaRPr b="0" i="0" sz="1602" u="none" cap="none" strike="noStrike">
              <a:solidFill>
                <a:schemeClr val="dk1"/>
              </a:solidFill>
              <a:latin typeface="Calibri"/>
              <a:ea typeface="Calibri"/>
              <a:cs typeface="Calibri"/>
              <a:sym typeface="Calibri"/>
            </a:endParaRPr>
          </a:p>
        </p:txBody>
      </p:sp>
      <p:sp>
        <p:nvSpPr>
          <p:cNvPr id="25" name="Google Shape;25;p1"/>
          <p:cNvSpPr/>
          <p:nvPr/>
        </p:nvSpPr>
        <p:spPr>
          <a:xfrm>
            <a:off x="8711133" y="4682728"/>
            <a:ext cx="147117"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0047BB"/>
              </a:buClr>
              <a:buSzPts val="885"/>
              <a:buFont typeface="Calibri"/>
              <a:buNone/>
            </a:pPr>
            <a:r>
              <a:rPr b="1" i="0" lang="en-US" sz="885" u="none" cap="none" strike="noStrike">
                <a:solidFill>
                  <a:srgbClr val="0047BB"/>
                </a:solidFill>
                <a:latin typeface="Calibri"/>
                <a:ea typeface="Calibri"/>
                <a:cs typeface="Calibri"/>
                <a:sym typeface="Calibri"/>
              </a:rPr>
              <a:t>01</a:t>
            </a:r>
            <a:endParaRPr b="0" i="0" sz="885"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pic>
        <p:nvPicPr>
          <p:cNvPr descr="preencoded.png" id="31" name="Google Shape;31;p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2" name="Google Shape;32;p2"/>
          <p:cNvSpPr/>
          <p:nvPr/>
        </p:nvSpPr>
        <p:spPr>
          <a:xfrm>
            <a:off x="0" y="0"/>
            <a:ext cx="9144000" cy="1000125"/>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0" y="985838"/>
            <a:ext cx="9144000" cy="14288"/>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428625" y="314325"/>
            <a:ext cx="5032242" cy="400050"/>
          </a:xfrm>
          <a:prstGeom prst="rect">
            <a:avLst/>
          </a:prstGeom>
          <a:noFill/>
          <a:ln>
            <a:noFill/>
          </a:ln>
        </p:spPr>
        <p:txBody>
          <a:bodyPr anchorCtr="0" anchor="t" bIns="0" lIns="0" spcFirstLastPara="1" rIns="0" wrap="square" tIns="0">
            <a:spAutoFit/>
          </a:bodyPr>
          <a:lstStyle/>
          <a:p>
            <a:pPr indent="0" lvl="0" marL="0" marR="0" rtl="0" algn="l">
              <a:lnSpc>
                <a:spcPct val="111809"/>
              </a:lnSpc>
              <a:spcBef>
                <a:spcPts val="0"/>
              </a:spcBef>
              <a:spcAft>
                <a:spcPts val="0"/>
              </a:spcAft>
              <a:buClr>
                <a:srgbClr val="0047BB"/>
              </a:buClr>
              <a:buSzPts val="2862"/>
              <a:buFont typeface="Calibri"/>
              <a:buNone/>
            </a:pPr>
            <a:r>
              <a:rPr b="1" i="0" lang="en-US" sz="2862" u="none" cap="none" strike="noStrike">
                <a:solidFill>
                  <a:srgbClr val="0047BB"/>
                </a:solidFill>
                <a:latin typeface="Calibri"/>
                <a:ea typeface="Calibri"/>
                <a:cs typeface="Calibri"/>
                <a:sym typeface="Calibri"/>
              </a:rPr>
              <a:t>Architecture Overview</a:t>
            </a:r>
            <a:endParaRPr b="0" i="0" sz="2862" u="none" cap="none" strike="noStrike">
              <a:solidFill>
                <a:schemeClr val="dk1"/>
              </a:solidFill>
              <a:latin typeface="Calibri"/>
              <a:ea typeface="Calibri"/>
              <a:cs typeface="Calibri"/>
              <a:sym typeface="Calibri"/>
            </a:endParaRPr>
          </a:p>
        </p:txBody>
      </p:sp>
      <p:sp>
        <p:nvSpPr>
          <p:cNvPr id="35" name="Google Shape;35;p2"/>
          <p:cNvSpPr/>
          <p:nvPr/>
        </p:nvSpPr>
        <p:spPr>
          <a:xfrm>
            <a:off x="428625" y="1683134"/>
            <a:ext cx="178594" cy="240013"/>
          </a:xfrm>
          <a:prstGeom prst="rect">
            <a:avLst/>
          </a:prstGeom>
          <a:noFill/>
          <a:ln>
            <a:noFill/>
          </a:ln>
        </p:spPr>
        <p:txBody>
          <a:bodyPr anchorCtr="0" anchor="t" bIns="0" lIns="0" spcFirstLastPara="1" rIns="0" wrap="square" tIns="0">
            <a:spAutoFit/>
          </a:bodyPr>
          <a:lstStyle/>
          <a:p>
            <a:pPr indent="0" lvl="0" marL="0" marR="0" rtl="0" algn="l">
              <a:lnSpc>
                <a:spcPct val="159262"/>
              </a:lnSpc>
              <a:spcBef>
                <a:spcPts val="0"/>
              </a:spcBef>
              <a:spcAft>
                <a:spcPts val="0"/>
              </a:spcAft>
              <a:buClr>
                <a:srgbClr val="FF5F00"/>
              </a:buClr>
              <a:buSzPts val="1193"/>
              <a:buFont typeface="Calibri"/>
              <a:buNone/>
            </a:pPr>
            <a:r>
              <a:rPr b="1" i="0" lang="en-US" sz="1193" u="none" cap="none" strike="noStrike">
                <a:solidFill>
                  <a:srgbClr val="FF5F00"/>
                </a:solidFill>
                <a:latin typeface="Calibri"/>
                <a:ea typeface="Calibri"/>
                <a:cs typeface="Calibri"/>
                <a:sym typeface="Calibri"/>
              </a:rPr>
              <a:t>01</a:t>
            </a:r>
            <a:endParaRPr b="0" i="0" sz="1193" u="none" cap="none" strike="noStrike">
              <a:solidFill>
                <a:schemeClr val="dk1"/>
              </a:solidFill>
              <a:latin typeface="Calibri"/>
              <a:ea typeface="Calibri"/>
              <a:cs typeface="Calibri"/>
              <a:sym typeface="Calibri"/>
            </a:endParaRPr>
          </a:p>
        </p:txBody>
      </p:sp>
      <p:sp>
        <p:nvSpPr>
          <p:cNvPr id="36" name="Google Shape;36;p2"/>
          <p:cNvSpPr/>
          <p:nvPr/>
        </p:nvSpPr>
        <p:spPr>
          <a:xfrm>
            <a:off x="714375" y="1683134"/>
            <a:ext cx="2851054" cy="480027"/>
          </a:xfrm>
          <a:prstGeom prst="rect">
            <a:avLst/>
          </a:prstGeom>
          <a:noFill/>
          <a:ln>
            <a:noFill/>
          </a:ln>
        </p:spPr>
        <p:txBody>
          <a:bodyPr anchorCtr="0" anchor="t" bIns="0" lIns="0" spcFirstLastPara="1" rIns="0" wrap="square" tIns="0">
            <a:spAutoFit/>
          </a:bodyPr>
          <a:lstStyle/>
          <a:p>
            <a:pPr indent="0" lvl="0" marL="0" marR="0" rtl="0" algn="l">
              <a:lnSpc>
                <a:spcPct val="149724"/>
              </a:lnSpc>
              <a:spcBef>
                <a:spcPts val="0"/>
              </a:spcBef>
              <a:spcAft>
                <a:spcPts val="0"/>
              </a:spcAft>
              <a:buClr>
                <a:srgbClr val="1A1A1A"/>
              </a:buClr>
              <a:buSzPts val="1269"/>
              <a:buFont typeface="Calibri"/>
              <a:buNone/>
            </a:pPr>
            <a:r>
              <a:rPr b="0" i="0" lang="en-US" sz="1269" u="none" cap="none" strike="noStrike">
                <a:solidFill>
                  <a:srgbClr val="1A1A1A"/>
                </a:solidFill>
                <a:latin typeface="Calibri"/>
                <a:ea typeface="Calibri"/>
                <a:cs typeface="Calibri"/>
                <a:sym typeface="Calibri"/>
              </a:rPr>
              <a:t>1 control plane node, 2 worker nodes topology</a:t>
            </a:r>
            <a:endParaRPr b="0" i="0" sz="1269" u="none" cap="none" strike="noStrike">
              <a:solidFill>
                <a:schemeClr val="dk1"/>
              </a:solidFill>
              <a:latin typeface="Calibri"/>
              <a:ea typeface="Calibri"/>
              <a:cs typeface="Calibri"/>
              <a:sym typeface="Calibri"/>
            </a:endParaRPr>
          </a:p>
        </p:txBody>
      </p:sp>
      <p:sp>
        <p:nvSpPr>
          <p:cNvPr id="37" name="Google Shape;37;p2"/>
          <p:cNvSpPr/>
          <p:nvPr/>
        </p:nvSpPr>
        <p:spPr>
          <a:xfrm>
            <a:off x="428625" y="2377473"/>
            <a:ext cx="178594" cy="240013"/>
          </a:xfrm>
          <a:prstGeom prst="rect">
            <a:avLst/>
          </a:prstGeom>
          <a:noFill/>
          <a:ln>
            <a:noFill/>
          </a:ln>
        </p:spPr>
        <p:txBody>
          <a:bodyPr anchorCtr="0" anchor="t" bIns="0" lIns="0" spcFirstLastPara="1" rIns="0" wrap="square" tIns="0">
            <a:spAutoFit/>
          </a:bodyPr>
          <a:lstStyle/>
          <a:p>
            <a:pPr indent="0" lvl="0" marL="0" marR="0" rtl="0" algn="l">
              <a:lnSpc>
                <a:spcPct val="159262"/>
              </a:lnSpc>
              <a:spcBef>
                <a:spcPts val="0"/>
              </a:spcBef>
              <a:spcAft>
                <a:spcPts val="0"/>
              </a:spcAft>
              <a:buClr>
                <a:srgbClr val="FF5F00"/>
              </a:buClr>
              <a:buSzPts val="1193"/>
              <a:buFont typeface="Calibri"/>
              <a:buNone/>
            </a:pPr>
            <a:r>
              <a:rPr b="1" i="0" lang="en-US" sz="1193" u="none" cap="none" strike="noStrike">
                <a:solidFill>
                  <a:srgbClr val="FF5F00"/>
                </a:solidFill>
                <a:latin typeface="Calibri"/>
                <a:ea typeface="Calibri"/>
                <a:cs typeface="Calibri"/>
                <a:sym typeface="Calibri"/>
              </a:rPr>
              <a:t>02</a:t>
            </a:r>
            <a:endParaRPr b="0" i="0" sz="1193" u="none" cap="none" strike="noStrike">
              <a:solidFill>
                <a:schemeClr val="dk1"/>
              </a:solidFill>
              <a:latin typeface="Calibri"/>
              <a:ea typeface="Calibri"/>
              <a:cs typeface="Calibri"/>
              <a:sym typeface="Calibri"/>
            </a:endParaRPr>
          </a:p>
        </p:txBody>
      </p:sp>
      <p:sp>
        <p:nvSpPr>
          <p:cNvPr id="38" name="Google Shape;38;p2"/>
          <p:cNvSpPr/>
          <p:nvPr/>
        </p:nvSpPr>
        <p:spPr>
          <a:xfrm>
            <a:off x="714375" y="2377473"/>
            <a:ext cx="2851054" cy="480027"/>
          </a:xfrm>
          <a:prstGeom prst="rect">
            <a:avLst/>
          </a:prstGeom>
          <a:noFill/>
          <a:ln>
            <a:noFill/>
          </a:ln>
        </p:spPr>
        <p:txBody>
          <a:bodyPr anchorCtr="0" anchor="t" bIns="0" lIns="0" spcFirstLastPara="1" rIns="0" wrap="square" tIns="0">
            <a:spAutoFit/>
          </a:bodyPr>
          <a:lstStyle/>
          <a:p>
            <a:pPr indent="0" lvl="0" marL="0" marR="0" rtl="0" algn="l">
              <a:lnSpc>
                <a:spcPct val="149724"/>
              </a:lnSpc>
              <a:spcBef>
                <a:spcPts val="0"/>
              </a:spcBef>
              <a:spcAft>
                <a:spcPts val="0"/>
              </a:spcAft>
              <a:buClr>
                <a:srgbClr val="1A1A1A"/>
              </a:buClr>
              <a:buSzPts val="1269"/>
              <a:buFont typeface="Calibri"/>
              <a:buNone/>
            </a:pPr>
            <a:r>
              <a:rPr b="0" i="0" lang="en-US" sz="1269" u="none" cap="none" strike="noStrike">
                <a:solidFill>
                  <a:srgbClr val="1A1A1A"/>
                </a:solidFill>
                <a:latin typeface="Calibri"/>
                <a:ea typeface="Calibri"/>
                <a:cs typeface="Calibri"/>
                <a:sym typeface="Calibri"/>
              </a:rPr>
              <a:t>Standard Kubernetes primitives only — no custom operators</a:t>
            </a:r>
            <a:endParaRPr b="0" i="0" sz="1269" u="none" cap="none" strike="noStrike">
              <a:solidFill>
                <a:schemeClr val="dk1"/>
              </a:solidFill>
              <a:latin typeface="Calibri"/>
              <a:ea typeface="Calibri"/>
              <a:cs typeface="Calibri"/>
              <a:sym typeface="Calibri"/>
            </a:endParaRPr>
          </a:p>
        </p:txBody>
      </p:sp>
      <p:sp>
        <p:nvSpPr>
          <p:cNvPr id="39" name="Google Shape;39;p2"/>
          <p:cNvSpPr/>
          <p:nvPr/>
        </p:nvSpPr>
        <p:spPr>
          <a:xfrm>
            <a:off x="428625" y="3071813"/>
            <a:ext cx="178594" cy="240013"/>
          </a:xfrm>
          <a:prstGeom prst="rect">
            <a:avLst/>
          </a:prstGeom>
          <a:noFill/>
          <a:ln>
            <a:noFill/>
          </a:ln>
        </p:spPr>
        <p:txBody>
          <a:bodyPr anchorCtr="0" anchor="t" bIns="0" lIns="0" spcFirstLastPara="1" rIns="0" wrap="square" tIns="0">
            <a:spAutoFit/>
          </a:bodyPr>
          <a:lstStyle/>
          <a:p>
            <a:pPr indent="0" lvl="0" marL="0" marR="0" rtl="0" algn="l">
              <a:lnSpc>
                <a:spcPct val="159262"/>
              </a:lnSpc>
              <a:spcBef>
                <a:spcPts val="0"/>
              </a:spcBef>
              <a:spcAft>
                <a:spcPts val="0"/>
              </a:spcAft>
              <a:buClr>
                <a:srgbClr val="FF5F00"/>
              </a:buClr>
              <a:buSzPts val="1193"/>
              <a:buFont typeface="Calibri"/>
              <a:buNone/>
            </a:pPr>
            <a:r>
              <a:rPr b="1" i="0" lang="en-US" sz="1193" u="none" cap="none" strike="noStrike">
                <a:solidFill>
                  <a:srgbClr val="FF5F00"/>
                </a:solidFill>
                <a:latin typeface="Calibri"/>
                <a:ea typeface="Calibri"/>
                <a:cs typeface="Calibri"/>
                <a:sym typeface="Calibri"/>
              </a:rPr>
              <a:t>03</a:t>
            </a:r>
            <a:endParaRPr b="0" i="0" sz="1193" u="none" cap="none" strike="noStrike">
              <a:solidFill>
                <a:schemeClr val="dk1"/>
              </a:solidFill>
              <a:latin typeface="Calibri"/>
              <a:ea typeface="Calibri"/>
              <a:cs typeface="Calibri"/>
              <a:sym typeface="Calibri"/>
            </a:endParaRPr>
          </a:p>
        </p:txBody>
      </p:sp>
      <p:sp>
        <p:nvSpPr>
          <p:cNvPr id="40" name="Google Shape;40;p2"/>
          <p:cNvSpPr/>
          <p:nvPr/>
        </p:nvSpPr>
        <p:spPr>
          <a:xfrm>
            <a:off x="714375" y="3071813"/>
            <a:ext cx="2851054" cy="480027"/>
          </a:xfrm>
          <a:prstGeom prst="rect">
            <a:avLst/>
          </a:prstGeom>
          <a:noFill/>
          <a:ln>
            <a:noFill/>
          </a:ln>
        </p:spPr>
        <p:txBody>
          <a:bodyPr anchorCtr="0" anchor="t" bIns="0" lIns="0" spcFirstLastPara="1" rIns="0" wrap="square" tIns="0">
            <a:spAutoFit/>
          </a:bodyPr>
          <a:lstStyle/>
          <a:p>
            <a:pPr indent="0" lvl="0" marL="0" marR="0" rtl="0" algn="l">
              <a:lnSpc>
                <a:spcPct val="149724"/>
              </a:lnSpc>
              <a:spcBef>
                <a:spcPts val="0"/>
              </a:spcBef>
              <a:spcAft>
                <a:spcPts val="0"/>
              </a:spcAft>
              <a:buClr>
                <a:srgbClr val="1A1A1A"/>
              </a:buClr>
              <a:buSzPts val="1269"/>
              <a:buFont typeface="Calibri"/>
              <a:buNone/>
            </a:pPr>
            <a:r>
              <a:rPr b="0" i="0" lang="en-US" sz="1269" u="none" cap="none" strike="noStrike">
                <a:solidFill>
                  <a:srgbClr val="1A1A1A"/>
                </a:solidFill>
                <a:latin typeface="Calibri"/>
                <a:ea typeface="Calibri"/>
                <a:cs typeface="Calibri"/>
                <a:sym typeface="Calibri"/>
              </a:rPr>
              <a:t>Explicit identity → RBAC → namespace mapping workflow</a:t>
            </a:r>
            <a:endParaRPr b="0" i="0" sz="1269" u="none" cap="none" strike="noStrike">
              <a:solidFill>
                <a:schemeClr val="dk1"/>
              </a:solidFill>
              <a:latin typeface="Calibri"/>
              <a:ea typeface="Calibri"/>
              <a:cs typeface="Calibri"/>
              <a:sym typeface="Calibri"/>
            </a:endParaRPr>
          </a:p>
        </p:txBody>
      </p:sp>
      <p:sp>
        <p:nvSpPr>
          <p:cNvPr id="41" name="Google Shape;41;p2"/>
          <p:cNvSpPr/>
          <p:nvPr/>
        </p:nvSpPr>
        <p:spPr>
          <a:xfrm>
            <a:off x="428625" y="3766152"/>
            <a:ext cx="178594" cy="240013"/>
          </a:xfrm>
          <a:prstGeom prst="rect">
            <a:avLst/>
          </a:prstGeom>
          <a:noFill/>
          <a:ln>
            <a:noFill/>
          </a:ln>
        </p:spPr>
        <p:txBody>
          <a:bodyPr anchorCtr="0" anchor="t" bIns="0" lIns="0" spcFirstLastPara="1" rIns="0" wrap="square" tIns="0">
            <a:spAutoFit/>
          </a:bodyPr>
          <a:lstStyle/>
          <a:p>
            <a:pPr indent="0" lvl="0" marL="0" marR="0" rtl="0" algn="l">
              <a:lnSpc>
                <a:spcPct val="159262"/>
              </a:lnSpc>
              <a:spcBef>
                <a:spcPts val="0"/>
              </a:spcBef>
              <a:spcAft>
                <a:spcPts val="0"/>
              </a:spcAft>
              <a:buClr>
                <a:srgbClr val="FF5F00"/>
              </a:buClr>
              <a:buSzPts val="1193"/>
              <a:buFont typeface="Calibri"/>
              <a:buNone/>
            </a:pPr>
            <a:r>
              <a:rPr b="1" i="0" lang="en-US" sz="1193" u="none" cap="none" strike="noStrike">
                <a:solidFill>
                  <a:srgbClr val="FF5F00"/>
                </a:solidFill>
                <a:latin typeface="Calibri"/>
                <a:ea typeface="Calibri"/>
                <a:cs typeface="Calibri"/>
                <a:sym typeface="Calibri"/>
              </a:rPr>
              <a:t>04</a:t>
            </a:r>
            <a:endParaRPr b="0" i="0" sz="1193" u="none" cap="none" strike="noStrike">
              <a:solidFill>
                <a:schemeClr val="dk1"/>
              </a:solidFill>
              <a:latin typeface="Calibri"/>
              <a:ea typeface="Calibri"/>
              <a:cs typeface="Calibri"/>
              <a:sym typeface="Calibri"/>
            </a:endParaRPr>
          </a:p>
        </p:txBody>
      </p:sp>
      <p:sp>
        <p:nvSpPr>
          <p:cNvPr id="42" name="Google Shape;42;p2"/>
          <p:cNvSpPr/>
          <p:nvPr/>
        </p:nvSpPr>
        <p:spPr>
          <a:xfrm>
            <a:off x="714375" y="3766152"/>
            <a:ext cx="2851054" cy="480027"/>
          </a:xfrm>
          <a:prstGeom prst="rect">
            <a:avLst/>
          </a:prstGeom>
          <a:noFill/>
          <a:ln>
            <a:noFill/>
          </a:ln>
        </p:spPr>
        <p:txBody>
          <a:bodyPr anchorCtr="0" anchor="t" bIns="0" lIns="0" spcFirstLastPara="1" rIns="0" wrap="square" tIns="0">
            <a:spAutoFit/>
          </a:bodyPr>
          <a:lstStyle/>
          <a:p>
            <a:pPr indent="0" lvl="0" marL="0" marR="0" rtl="0" algn="l">
              <a:lnSpc>
                <a:spcPct val="149724"/>
              </a:lnSpc>
              <a:spcBef>
                <a:spcPts val="0"/>
              </a:spcBef>
              <a:spcAft>
                <a:spcPts val="0"/>
              </a:spcAft>
              <a:buClr>
                <a:srgbClr val="1A1A1A"/>
              </a:buClr>
              <a:buSzPts val="1269"/>
              <a:buFont typeface="Calibri"/>
              <a:buNone/>
            </a:pPr>
            <a:r>
              <a:rPr b="0" i="0" lang="en-US" sz="1269" u="none" cap="none" strike="noStrike">
                <a:solidFill>
                  <a:srgbClr val="1A1A1A"/>
                </a:solidFill>
                <a:latin typeface="Calibri"/>
                <a:ea typeface="Calibri"/>
                <a:cs typeface="Calibri"/>
                <a:sym typeface="Calibri"/>
              </a:rPr>
              <a:t>Clean, upstream-aligned design with no hidden complexity</a:t>
            </a:r>
            <a:endParaRPr b="0" i="0" sz="1269" u="none" cap="none" strike="noStrike">
              <a:solidFill>
                <a:schemeClr val="dk1"/>
              </a:solidFill>
              <a:latin typeface="Calibri"/>
              <a:ea typeface="Calibri"/>
              <a:cs typeface="Calibri"/>
              <a:sym typeface="Calibri"/>
            </a:endParaRPr>
          </a:p>
        </p:txBody>
      </p:sp>
      <p:sp>
        <p:nvSpPr>
          <p:cNvPr id="43" name="Google Shape;43;p2"/>
          <p:cNvSpPr/>
          <p:nvPr/>
        </p:nvSpPr>
        <p:spPr>
          <a:xfrm>
            <a:off x="3994054" y="1428750"/>
            <a:ext cx="4721321" cy="3286125"/>
          </a:xfrm>
          <a:prstGeom prst="rect">
            <a:avLst/>
          </a:prstGeom>
          <a:solidFill>
            <a:srgbClr val="F5F5F5"/>
          </a:solidFill>
          <a:ln cap="flat" cmpd="sng" w="9525">
            <a:solidFill>
              <a:srgbClr val="E0E0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4" name="Google Shape;44;p2"/>
          <p:cNvPicPr preferRelativeResize="0"/>
          <p:nvPr/>
        </p:nvPicPr>
        <p:blipFill rotWithShape="1">
          <a:blip r:embed="rId4">
            <a:alphaModFix/>
          </a:blip>
          <a:srcRect b="0" l="0" r="0" t="0"/>
          <a:stretch/>
        </p:blipFill>
        <p:spPr>
          <a:xfrm>
            <a:off x="4137264" y="1643063"/>
            <a:ext cx="4435236" cy="2857500"/>
          </a:xfrm>
          <a:prstGeom prst="rect">
            <a:avLst/>
          </a:prstGeom>
          <a:noFill/>
          <a:ln>
            <a:noFill/>
          </a:ln>
        </p:spPr>
      </p:pic>
      <p:sp>
        <p:nvSpPr>
          <p:cNvPr id="45" name="Google Shape;45;p2"/>
          <p:cNvSpPr/>
          <p:nvPr/>
        </p:nvSpPr>
        <p:spPr>
          <a:xfrm>
            <a:off x="8782571" y="4754166"/>
            <a:ext cx="147117" cy="175022"/>
          </a:xfrm>
          <a:prstGeom prst="rect">
            <a:avLst/>
          </a:prstGeom>
          <a:noFill/>
          <a:ln>
            <a:noFill/>
          </a:ln>
        </p:spPr>
        <p:txBody>
          <a:bodyPr anchorCtr="0" anchor="t" bIns="0" lIns="0" spcFirstLastPara="1" rIns="0" wrap="square" tIns="0">
            <a:spAutoFit/>
          </a:bodyPr>
          <a:lstStyle/>
          <a:p>
            <a:pPr indent="0" lvl="0" marL="0" marR="0" rtl="0" algn="l">
              <a:lnSpc>
                <a:spcPct val="127388"/>
              </a:lnSpc>
              <a:spcBef>
                <a:spcPts val="0"/>
              </a:spcBef>
              <a:spcAft>
                <a:spcPts val="0"/>
              </a:spcAft>
              <a:buClr>
                <a:srgbClr val="1A1A1A"/>
              </a:buClr>
              <a:buSzPts val="942"/>
              <a:buFont typeface="Calibri"/>
              <a:buNone/>
            </a:pPr>
            <a:r>
              <a:rPr b="0" i="0" lang="en-US" sz="942" u="none" cap="none" strike="noStrike">
                <a:solidFill>
                  <a:srgbClr val="1A1A1A"/>
                </a:solidFill>
                <a:latin typeface="Calibri"/>
                <a:ea typeface="Calibri"/>
                <a:cs typeface="Calibri"/>
                <a:sym typeface="Calibri"/>
              </a:rPr>
              <a:t>02</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pic>
        <p:nvPicPr>
          <p:cNvPr descr="preencoded.png" id="51" name="Google Shape;51;p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52" name="Google Shape;52;p3"/>
          <p:cNvSpPr/>
          <p:nvPr/>
        </p:nvSpPr>
        <p:spPr>
          <a:xfrm>
            <a:off x="0" y="0"/>
            <a:ext cx="9144000" cy="1000125"/>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a:off x="0" y="971550"/>
            <a:ext cx="9144000" cy="28575"/>
          </a:xfrm>
          <a:prstGeom prst="rect">
            <a:avLst/>
          </a:prstGeom>
          <a:solidFill>
            <a:srgbClr val="0047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428625" y="314325"/>
            <a:ext cx="3766989" cy="400050"/>
          </a:xfrm>
          <a:prstGeom prst="rect">
            <a:avLst/>
          </a:prstGeom>
          <a:noFill/>
          <a:ln>
            <a:noFill/>
          </a:ln>
        </p:spPr>
        <p:txBody>
          <a:bodyPr anchorCtr="0" anchor="t" bIns="0" lIns="0" spcFirstLastPara="1" rIns="0" wrap="square" tIns="0">
            <a:spAutoFit/>
          </a:bodyPr>
          <a:lstStyle/>
          <a:p>
            <a:pPr indent="0" lvl="0" marL="0" marR="0" rtl="0" algn="l">
              <a:lnSpc>
                <a:spcPct val="111809"/>
              </a:lnSpc>
              <a:spcBef>
                <a:spcPts val="0"/>
              </a:spcBef>
              <a:spcAft>
                <a:spcPts val="0"/>
              </a:spcAft>
              <a:buClr>
                <a:srgbClr val="1A1A1A"/>
              </a:buClr>
              <a:buSzPts val="2862"/>
              <a:buFont typeface="Calibri"/>
              <a:buNone/>
            </a:pPr>
            <a:r>
              <a:rPr b="1" i="0" lang="en-US" sz="2862" u="none" cap="none" strike="noStrike">
                <a:solidFill>
                  <a:srgbClr val="1A1A1A"/>
                </a:solidFill>
                <a:latin typeface="Calibri"/>
                <a:ea typeface="Calibri"/>
                <a:cs typeface="Calibri"/>
                <a:sym typeface="Calibri"/>
              </a:rPr>
              <a:t>How Users Access</a:t>
            </a:r>
            <a:endParaRPr b="0" i="0" sz="2862" u="none" cap="none" strike="noStrike">
              <a:solidFill>
                <a:schemeClr val="dk1"/>
              </a:solidFill>
              <a:latin typeface="Calibri"/>
              <a:ea typeface="Calibri"/>
              <a:cs typeface="Calibri"/>
              <a:sym typeface="Calibri"/>
            </a:endParaRPr>
          </a:p>
        </p:txBody>
      </p:sp>
      <p:sp>
        <p:nvSpPr>
          <p:cNvPr id="55" name="Google Shape;55;p3"/>
          <p:cNvSpPr/>
          <p:nvPr/>
        </p:nvSpPr>
        <p:spPr>
          <a:xfrm>
            <a:off x="7483776" y="519708"/>
            <a:ext cx="1231599" cy="194667"/>
          </a:xfrm>
          <a:prstGeom prst="rect">
            <a:avLst/>
          </a:prstGeom>
          <a:noFill/>
          <a:ln>
            <a:noFill/>
          </a:ln>
        </p:spPr>
        <p:txBody>
          <a:bodyPr anchorCtr="0" anchor="t" bIns="0" lIns="0" spcFirstLastPara="1" rIns="0" wrap="square" tIns="0">
            <a:spAutoFit/>
          </a:bodyPr>
          <a:lstStyle/>
          <a:p>
            <a:pPr indent="0" lvl="0" marL="0" marR="0" rtl="0" algn="l">
              <a:lnSpc>
                <a:spcPct val="141843"/>
              </a:lnSpc>
              <a:spcBef>
                <a:spcPts val="0"/>
              </a:spcBef>
              <a:spcAft>
                <a:spcPts val="0"/>
              </a:spcAft>
              <a:buClr>
                <a:srgbClr val="0047BB"/>
              </a:buClr>
              <a:buSzPts val="987"/>
              <a:buFont typeface="Calibri"/>
              <a:buNone/>
            </a:pPr>
            <a:r>
              <a:rPr b="1" i="0" lang="en-US" sz="987" u="none" cap="none" strike="noStrike">
                <a:solidFill>
                  <a:srgbClr val="0047BB"/>
                </a:solidFill>
                <a:latin typeface="Calibri"/>
                <a:ea typeface="Calibri"/>
                <a:cs typeface="Calibri"/>
                <a:sym typeface="Calibri"/>
              </a:rPr>
              <a:t>Security Model</a:t>
            </a:r>
            <a:endParaRPr b="0" i="0" sz="987" u="none" cap="none" strike="noStrike">
              <a:solidFill>
                <a:schemeClr val="dk1"/>
              </a:solidFill>
              <a:latin typeface="Calibri"/>
              <a:ea typeface="Calibri"/>
              <a:cs typeface="Calibri"/>
              <a:sym typeface="Calibri"/>
            </a:endParaRPr>
          </a:p>
        </p:txBody>
      </p:sp>
      <p:sp>
        <p:nvSpPr>
          <p:cNvPr id="56" name="Google Shape;56;p3"/>
          <p:cNvSpPr/>
          <p:nvPr/>
        </p:nvSpPr>
        <p:spPr>
          <a:xfrm>
            <a:off x="600075" y="1430899"/>
            <a:ext cx="3536156"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0047BB"/>
              </a:buClr>
              <a:buSzPts val="1193"/>
              <a:buFont typeface="Calibri"/>
              <a:buNone/>
            </a:pPr>
            <a:r>
              <a:rPr b="1" i="0" lang="en-US" sz="1193" u="none" cap="none" strike="noStrike">
                <a:solidFill>
                  <a:srgbClr val="0047BB"/>
                </a:solidFill>
                <a:latin typeface="Calibri"/>
                <a:ea typeface="Calibri"/>
                <a:cs typeface="Calibri"/>
                <a:sym typeface="Calibri"/>
              </a:rPr>
              <a:t>01. Authentication</a:t>
            </a:r>
            <a:endParaRPr b="0" i="0" sz="1193" u="none" cap="none" strike="noStrike">
              <a:solidFill>
                <a:schemeClr val="dk1"/>
              </a:solidFill>
              <a:latin typeface="Calibri"/>
              <a:ea typeface="Calibri"/>
              <a:cs typeface="Calibri"/>
              <a:sym typeface="Calibri"/>
            </a:endParaRPr>
          </a:p>
        </p:txBody>
      </p:sp>
      <p:sp>
        <p:nvSpPr>
          <p:cNvPr id="57" name="Google Shape;57;p3"/>
          <p:cNvSpPr/>
          <p:nvPr/>
        </p:nvSpPr>
        <p:spPr>
          <a:xfrm>
            <a:off x="600075" y="1722007"/>
            <a:ext cx="3536156" cy="360034"/>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444444"/>
              </a:buClr>
              <a:buSzPts val="942"/>
              <a:buFont typeface="Calibri"/>
              <a:buNone/>
            </a:pPr>
            <a:r>
              <a:rPr b="0" i="0" lang="en-US" sz="942" u="none" cap="none" strike="noStrike">
                <a:solidFill>
                  <a:srgbClr val="444444"/>
                </a:solidFill>
                <a:latin typeface="Calibri"/>
                <a:ea typeface="Calibri"/>
                <a:cs typeface="Calibri"/>
                <a:sym typeface="Calibri"/>
              </a:rPr>
              <a:t>X.509 certificate-based authentication establishes strict user identity.</a:t>
            </a:r>
            <a:endParaRPr b="0" i="0" sz="942" u="none" cap="none" strike="noStrike">
              <a:solidFill>
                <a:schemeClr val="dk1"/>
              </a:solidFill>
              <a:latin typeface="Calibri"/>
              <a:ea typeface="Calibri"/>
              <a:cs typeface="Calibri"/>
              <a:sym typeface="Calibri"/>
            </a:endParaRPr>
          </a:p>
        </p:txBody>
      </p:sp>
      <p:sp>
        <p:nvSpPr>
          <p:cNvPr id="58" name="Google Shape;58;p3"/>
          <p:cNvSpPr/>
          <p:nvPr/>
        </p:nvSpPr>
        <p:spPr>
          <a:xfrm>
            <a:off x="600075" y="2367790"/>
            <a:ext cx="3536156"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0047BB"/>
              </a:buClr>
              <a:buSzPts val="1193"/>
              <a:buFont typeface="Calibri"/>
              <a:buNone/>
            </a:pPr>
            <a:r>
              <a:rPr b="1" i="0" lang="en-US" sz="1193" u="none" cap="none" strike="noStrike">
                <a:solidFill>
                  <a:srgbClr val="0047BB"/>
                </a:solidFill>
                <a:latin typeface="Calibri"/>
                <a:ea typeface="Calibri"/>
                <a:cs typeface="Calibri"/>
                <a:sym typeface="Calibri"/>
              </a:rPr>
              <a:t>02. Onboarding</a:t>
            </a:r>
            <a:endParaRPr b="0" i="0" sz="1193" u="none" cap="none" strike="noStrike">
              <a:solidFill>
                <a:schemeClr val="dk1"/>
              </a:solidFill>
              <a:latin typeface="Calibri"/>
              <a:ea typeface="Calibri"/>
              <a:cs typeface="Calibri"/>
              <a:sym typeface="Calibri"/>
            </a:endParaRPr>
          </a:p>
        </p:txBody>
      </p:sp>
      <p:sp>
        <p:nvSpPr>
          <p:cNvPr id="59" name="Google Shape;59;p3"/>
          <p:cNvSpPr/>
          <p:nvPr/>
        </p:nvSpPr>
        <p:spPr>
          <a:xfrm>
            <a:off x="600075" y="2658898"/>
            <a:ext cx="3536156" cy="360034"/>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444444"/>
              </a:buClr>
              <a:buSzPts val="942"/>
              <a:buFont typeface="Calibri"/>
              <a:buNone/>
            </a:pPr>
            <a:r>
              <a:rPr b="0" i="0" lang="en-US" sz="942" u="none" cap="none" strike="noStrike">
                <a:solidFill>
                  <a:srgbClr val="444444"/>
                </a:solidFill>
                <a:latin typeface="Calibri"/>
                <a:ea typeface="Calibri"/>
                <a:cs typeface="Calibri"/>
                <a:sym typeface="Calibri"/>
              </a:rPr>
              <a:t>Certificate Signing Request (CSR) approval flow ensures verified entry.</a:t>
            </a:r>
            <a:endParaRPr b="0" i="0" sz="942" u="none" cap="none" strike="noStrike">
              <a:solidFill>
                <a:schemeClr val="dk1"/>
              </a:solidFill>
              <a:latin typeface="Calibri"/>
              <a:ea typeface="Calibri"/>
              <a:cs typeface="Calibri"/>
              <a:sym typeface="Calibri"/>
            </a:endParaRPr>
          </a:p>
        </p:txBody>
      </p:sp>
      <p:sp>
        <p:nvSpPr>
          <p:cNvPr id="60" name="Google Shape;60;p3"/>
          <p:cNvSpPr/>
          <p:nvPr/>
        </p:nvSpPr>
        <p:spPr>
          <a:xfrm>
            <a:off x="600075" y="3304682"/>
            <a:ext cx="3536156"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0047BB"/>
              </a:buClr>
              <a:buSzPts val="1193"/>
              <a:buFont typeface="Calibri"/>
              <a:buNone/>
            </a:pPr>
            <a:r>
              <a:rPr b="1" i="0" lang="en-US" sz="1193" u="none" cap="none" strike="noStrike">
                <a:solidFill>
                  <a:srgbClr val="0047BB"/>
                </a:solidFill>
                <a:latin typeface="Calibri"/>
                <a:ea typeface="Calibri"/>
                <a:cs typeface="Calibri"/>
                <a:sym typeface="Calibri"/>
              </a:rPr>
              <a:t>03. Authorization</a:t>
            </a:r>
            <a:endParaRPr b="0" i="0" sz="1193" u="none" cap="none" strike="noStrike">
              <a:solidFill>
                <a:schemeClr val="dk1"/>
              </a:solidFill>
              <a:latin typeface="Calibri"/>
              <a:ea typeface="Calibri"/>
              <a:cs typeface="Calibri"/>
              <a:sym typeface="Calibri"/>
            </a:endParaRPr>
          </a:p>
        </p:txBody>
      </p:sp>
      <p:sp>
        <p:nvSpPr>
          <p:cNvPr id="61" name="Google Shape;61;p3"/>
          <p:cNvSpPr/>
          <p:nvPr/>
        </p:nvSpPr>
        <p:spPr>
          <a:xfrm>
            <a:off x="600075" y="3595790"/>
            <a:ext cx="3536156" cy="180017"/>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444444"/>
              </a:buClr>
              <a:buSzPts val="942"/>
              <a:buFont typeface="Calibri"/>
              <a:buNone/>
            </a:pPr>
            <a:r>
              <a:rPr b="0" i="0" lang="en-US" sz="942" u="none" cap="none" strike="noStrike">
                <a:solidFill>
                  <a:srgbClr val="444444"/>
                </a:solidFill>
                <a:latin typeface="Calibri"/>
                <a:ea typeface="Calibri"/>
                <a:cs typeface="Calibri"/>
                <a:sym typeface="Calibri"/>
              </a:rPr>
              <a:t>Namespace-scoped RBAC bindings limit blast radius.</a:t>
            </a:r>
            <a:endParaRPr b="0" i="0" sz="942" u="none" cap="none" strike="noStrike">
              <a:solidFill>
                <a:schemeClr val="dk1"/>
              </a:solidFill>
              <a:latin typeface="Calibri"/>
              <a:ea typeface="Calibri"/>
              <a:cs typeface="Calibri"/>
              <a:sym typeface="Calibri"/>
            </a:endParaRPr>
          </a:p>
        </p:txBody>
      </p:sp>
      <p:sp>
        <p:nvSpPr>
          <p:cNvPr id="62" name="Google Shape;62;p3"/>
          <p:cNvSpPr/>
          <p:nvPr/>
        </p:nvSpPr>
        <p:spPr>
          <a:xfrm>
            <a:off x="600075" y="4061557"/>
            <a:ext cx="3536156"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1A1A1A"/>
              </a:buClr>
              <a:buSzPts val="1193"/>
              <a:buFont typeface="Calibri"/>
              <a:buNone/>
            </a:pPr>
            <a:r>
              <a:rPr b="1" i="0" lang="en-US" sz="1193" u="none" cap="none" strike="noStrike">
                <a:solidFill>
                  <a:srgbClr val="1A1A1A"/>
                </a:solidFill>
                <a:latin typeface="Calibri"/>
                <a:ea typeface="Calibri"/>
                <a:cs typeface="Calibri"/>
                <a:sym typeface="Calibri"/>
              </a:rPr>
              <a:t>04. Restriction</a:t>
            </a:r>
            <a:endParaRPr b="0" i="0" sz="1193" u="none" cap="none" strike="noStrike">
              <a:solidFill>
                <a:schemeClr val="dk1"/>
              </a:solidFill>
              <a:latin typeface="Calibri"/>
              <a:ea typeface="Calibri"/>
              <a:cs typeface="Calibri"/>
              <a:sym typeface="Calibri"/>
            </a:endParaRPr>
          </a:p>
        </p:txBody>
      </p:sp>
      <p:sp>
        <p:nvSpPr>
          <p:cNvPr id="63" name="Google Shape;63;p3"/>
          <p:cNvSpPr/>
          <p:nvPr/>
        </p:nvSpPr>
        <p:spPr>
          <a:xfrm>
            <a:off x="600075" y="4352665"/>
            <a:ext cx="3536156" cy="360034"/>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444444"/>
              </a:buClr>
              <a:buSzPts val="942"/>
              <a:buFont typeface="Calibri"/>
              <a:buNone/>
            </a:pPr>
            <a:r>
              <a:rPr b="0" i="0" lang="en-US" sz="942" u="none" cap="none" strike="noStrike">
                <a:solidFill>
                  <a:srgbClr val="444444"/>
                </a:solidFill>
                <a:latin typeface="Calibri"/>
                <a:ea typeface="Calibri"/>
                <a:cs typeface="Calibri"/>
                <a:sym typeface="Calibri"/>
              </a:rPr>
              <a:t>No cluster-admin access. Principle of least privilege is enforced by default.</a:t>
            </a:r>
            <a:endParaRPr b="0" i="0" sz="942" u="none" cap="none" strike="noStrike">
              <a:solidFill>
                <a:schemeClr val="dk1"/>
              </a:solidFill>
              <a:latin typeface="Calibri"/>
              <a:ea typeface="Calibri"/>
              <a:cs typeface="Calibri"/>
              <a:sym typeface="Calibri"/>
            </a:endParaRPr>
          </a:p>
        </p:txBody>
      </p:sp>
      <p:sp>
        <p:nvSpPr>
          <p:cNvPr id="64" name="Google Shape;64;p3"/>
          <p:cNvSpPr/>
          <p:nvPr/>
        </p:nvSpPr>
        <p:spPr>
          <a:xfrm>
            <a:off x="4572000" y="1000125"/>
            <a:ext cx="4572000" cy="4143375"/>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 name="Google Shape;65;p3" title="ChatGPT Image Jan 26, 2026 at 11_22_56 AM.png"/>
          <p:cNvPicPr preferRelativeResize="0"/>
          <p:nvPr/>
        </p:nvPicPr>
        <p:blipFill rotWithShape="1">
          <a:blip r:embed="rId4">
            <a:alphaModFix/>
          </a:blip>
          <a:srcRect b="7655" l="0" r="0" t="7663"/>
          <a:stretch/>
        </p:blipFill>
        <p:spPr>
          <a:xfrm>
            <a:off x="5000625" y="2023914"/>
            <a:ext cx="3714750" cy="2095799"/>
          </a:xfrm>
          <a:prstGeom prst="rect">
            <a:avLst/>
          </a:prstGeom>
          <a:noFill/>
          <a:ln>
            <a:noFill/>
          </a:ln>
        </p:spPr>
      </p:pic>
      <p:sp>
        <p:nvSpPr>
          <p:cNvPr id="66" name="Google Shape;66;p3"/>
          <p:cNvSpPr/>
          <p:nvPr/>
        </p:nvSpPr>
        <p:spPr>
          <a:xfrm>
            <a:off x="8625408" y="4668441"/>
            <a:ext cx="304279" cy="260747"/>
          </a:xfrm>
          <a:prstGeom prst="rect">
            <a:avLst/>
          </a:prstGeom>
          <a:noFill/>
          <a:ln>
            <a:noFill/>
          </a:ln>
        </p:spPr>
        <p:txBody>
          <a:bodyPr anchorCtr="0" anchor="t" bIns="42525" lIns="85075" spcFirstLastPara="1" rIns="85075" wrap="square" tIns="42525">
            <a:spAutoFit/>
          </a:bodyPr>
          <a:lstStyle/>
          <a:p>
            <a:pPr indent="0" lvl="0" marL="0" marR="0" rtl="0" algn="l">
              <a:lnSpc>
                <a:spcPct val="127388"/>
              </a:lnSpc>
              <a:spcBef>
                <a:spcPts val="0"/>
              </a:spcBef>
              <a:spcAft>
                <a:spcPts val="0"/>
              </a:spcAft>
              <a:buClr>
                <a:srgbClr val="1A1A1A"/>
              </a:buClr>
              <a:buSzPts val="942"/>
              <a:buFont typeface="Calibri"/>
              <a:buNone/>
            </a:pPr>
            <a:r>
              <a:rPr b="0" i="0" lang="en-US" sz="942" u="none" cap="none" strike="noStrike">
                <a:solidFill>
                  <a:srgbClr val="1A1A1A"/>
                </a:solidFill>
                <a:latin typeface="Calibri"/>
                <a:ea typeface="Calibri"/>
                <a:cs typeface="Calibri"/>
                <a:sym typeface="Calibri"/>
              </a:rPr>
              <a:t>03</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pic>
        <p:nvPicPr>
          <p:cNvPr descr="preencoded.png" id="72" name="Google Shape;72;p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73" name="Google Shape;73;p4"/>
          <p:cNvSpPr/>
          <p:nvPr/>
        </p:nvSpPr>
        <p:spPr>
          <a:xfrm>
            <a:off x="142875" y="142875"/>
            <a:ext cx="8858250" cy="4857750"/>
          </a:xfrm>
          <a:prstGeom prst="rect">
            <a:avLst/>
          </a:prstGeom>
          <a:solidFill>
            <a:srgbClr val="000000">
              <a:alpha val="0"/>
            </a:srgbClr>
          </a:solidFill>
          <a:ln cap="flat" cmpd="sng" w="274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142875" y="142875"/>
            <a:ext cx="5314950" cy="1571625"/>
          </a:xfrm>
          <a:prstGeom prst="rect">
            <a:avLst/>
          </a:prstGeom>
          <a:solidFill>
            <a:srgbClr val="0047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5429250" y="142875"/>
            <a:ext cx="28575" cy="1571625"/>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p:nvPr/>
        </p:nvSpPr>
        <p:spPr>
          <a:xfrm>
            <a:off x="142875" y="1685925"/>
            <a:ext cx="5314950" cy="28575"/>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a:off x="428625" y="568654"/>
            <a:ext cx="2597367" cy="720068"/>
          </a:xfrm>
          <a:prstGeom prst="rect">
            <a:avLst/>
          </a:prstGeom>
          <a:noFill/>
          <a:ln>
            <a:noFill/>
          </a:ln>
        </p:spPr>
        <p:txBody>
          <a:bodyPr anchorCtr="0" anchor="t" bIns="0" lIns="0" spcFirstLastPara="1" rIns="0" wrap="square" tIns="0">
            <a:spAutoFit/>
          </a:bodyPr>
          <a:lstStyle/>
          <a:p>
            <a:pPr indent="0" lvl="0" marL="0" marR="0" rtl="0" algn="l">
              <a:lnSpc>
                <a:spcPct val="97833"/>
              </a:lnSpc>
              <a:spcBef>
                <a:spcPts val="0"/>
              </a:spcBef>
              <a:spcAft>
                <a:spcPts val="0"/>
              </a:spcAft>
              <a:buClr>
                <a:srgbClr val="FFFFFF"/>
              </a:buClr>
              <a:buSzPts val="2862"/>
              <a:buFont typeface="Calibri"/>
              <a:buNone/>
            </a:pPr>
            <a:r>
              <a:rPr b="1" i="0" lang="en-US" sz="2862" u="none" cap="none" strike="noStrike">
                <a:solidFill>
                  <a:srgbClr val="FFFFFF"/>
                </a:solidFill>
                <a:latin typeface="Calibri"/>
                <a:ea typeface="Calibri"/>
                <a:cs typeface="Calibri"/>
                <a:sym typeface="Calibri"/>
              </a:rPr>
              <a:t>Tradeoffs &amp;</a:t>
            </a:r>
            <a:br>
              <a:rPr b="1" i="0" lang="en-US" sz="2862" u="none" cap="none" strike="noStrike">
                <a:solidFill>
                  <a:srgbClr val="FFFFFF"/>
                </a:solidFill>
                <a:latin typeface="Calibri"/>
                <a:ea typeface="Calibri"/>
                <a:cs typeface="Calibri"/>
                <a:sym typeface="Calibri"/>
              </a:rPr>
            </a:br>
            <a:r>
              <a:rPr b="1" i="0" lang="en-US" sz="2862" u="none" cap="none" strike="noStrike">
                <a:solidFill>
                  <a:srgbClr val="FFFFFF"/>
                </a:solidFill>
                <a:latin typeface="Calibri"/>
                <a:ea typeface="Calibri"/>
                <a:cs typeface="Calibri"/>
                <a:sym typeface="Calibri"/>
              </a:rPr>
              <a:t>Sharp Edges</a:t>
            </a:r>
            <a:endParaRPr b="0" i="0" sz="2862" u="none" cap="none" strike="noStrike">
              <a:solidFill>
                <a:schemeClr val="dk1"/>
              </a:solidFill>
              <a:latin typeface="Calibri"/>
              <a:ea typeface="Calibri"/>
              <a:cs typeface="Calibri"/>
              <a:sym typeface="Calibri"/>
            </a:endParaRPr>
          </a:p>
        </p:txBody>
      </p:sp>
      <p:pic>
        <p:nvPicPr>
          <p:cNvPr descr="preencoded.png" id="78" name="Google Shape;78;p4"/>
          <p:cNvPicPr preferRelativeResize="0"/>
          <p:nvPr/>
        </p:nvPicPr>
        <p:blipFill rotWithShape="1">
          <a:blip r:embed="rId4">
            <a:alphaModFix/>
          </a:blip>
          <a:srcRect b="0" l="0" r="0" t="0"/>
          <a:stretch/>
        </p:blipFill>
        <p:spPr>
          <a:xfrm>
            <a:off x="5457825" y="142875"/>
            <a:ext cx="3543300" cy="1543050"/>
          </a:xfrm>
          <a:prstGeom prst="rect">
            <a:avLst/>
          </a:prstGeom>
          <a:noFill/>
          <a:ln>
            <a:noFill/>
          </a:ln>
        </p:spPr>
      </p:pic>
      <p:sp>
        <p:nvSpPr>
          <p:cNvPr id="79" name="Google Shape;79;p4"/>
          <p:cNvSpPr/>
          <p:nvPr/>
        </p:nvSpPr>
        <p:spPr>
          <a:xfrm>
            <a:off x="428625" y="2056702"/>
            <a:ext cx="3829050" cy="342900"/>
          </a:xfrm>
          <a:prstGeom prst="rect">
            <a:avLst/>
          </a:prstGeom>
          <a:noFill/>
          <a:ln>
            <a:noFill/>
          </a:ln>
        </p:spPr>
        <p:txBody>
          <a:bodyPr anchorCtr="0" anchor="t" bIns="0" lIns="0" spcFirstLastPara="1" rIns="0" wrap="square" tIns="0">
            <a:spAutoFit/>
          </a:bodyPr>
          <a:lstStyle/>
          <a:p>
            <a:pPr indent="0" lvl="0" marL="0" marR="0" rtl="0" algn="l">
              <a:lnSpc>
                <a:spcPct val="110837"/>
              </a:lnSpc>
              <a:spcBef>
                <a:spcPts val="0"/>
              </a:spcBef>
              <a:spcAft>
                <a:spcPts val="0"/>
              </a:spcAft>
              <a:buClr>
                <a:srgbClr val="FF5F00"/>
              </a:buClr>
              <a:buSzPts val="2436"/>
              <a:buFont typeface="Calibri"/>
              <a:buNone/>
            </a:pPr>
            <a:r>
              <a:rPr b="1" i="0" lang="en-US" sz="2436" u="none" cap="none" strike="noStrike">
                <a:solidFill>
                  <a:srgbClr val="FF5F00"/>
                </a:solidFill>
                <a:latin typeface="Calibri"/>
                <a:ea typeface="Calibri"/>
                <a:cs typeface="Calibri"/>
                <a:sym typeface="Calibri"/>
              </a:rPr>
              <a:t>01</a:t>
            </a:r>
            <a:endParaRPr b="0" i="0" sz="2436" u="none" cap="none" strike="noStrike">
              <a:solidFill>
                <a:schemeClr val="dk1"/>
              </a:solidFill>
              <a:latin typeface="Calibri"/>
              <a:ea typeface="Calibri"/>
              <a:cs typeface="Calibri"/>
              <a:sym typeface="Calibri"/>
            </a:endParaRPr>
          </a:p>
        </p:txBody>
      </p:sp>
      <p:sp>
        <p:nvSpPr>
          <p:cNvPr id="80" name="Google Shape;80;p4"/>
          <p:cNvSpPr/>
          <p:nvPr/>
        </p:nvSpPr>
        <p:spPr>
          <a:xfrm>
            <a:off x="428625" y="2506759"/>
            <a:ext cx="3829050" cy="480027"/>
          </a:xfrm>
          <a:prstGeom prst="rect">
            <a:avLst/>
          </a:prstGeom>
          <a:noFill/>
          <a:ln>
            <a:noFill/>
          </a:ln>
        </p:spPr>
        <p:txBody>
          <a:bodyPr anchorCtr="0" anchor="t" bIns="0" lIns="0" spcFirstLastPara="1" rIns="0" wrap="square" tIns="0">
            <a:spAutoFit/>
          </a:bodyPr>
          <a:lstStyle/>
          <a:p>
            <a:pPr indent="0" lvl="0" marL="0" marR="0" rtl="0" algn="l">
              <a:lnSpc>
                <a:spcPct val="136005"/>
              </a:lnSpc>
              <a:spcBef>
                <a:spcPts val="0"/>
              </a:spcBef>
              <a:spcAft>
                <a:spcPts val="0"/>
              </a:spcAft>
              <a:buClr>
                <a:srgbClr val="1A1A1A"/>
              </a:buClr>
              <a:buSzPts val="1397"/>
              <a:buFont typeface="Calibri"/>
              <a:buNone/>
            </a:pPr>
            <a:r>
              <a:rPr b="1" i="0" lang="en-US" sz="1397" u="none" cap="none" strike="noStrike">
                <a:solidFill>
                  <a:srgbClr val="1A1A1A"/>
                </a:solidFill>
                <a:latin typeface="Calibri"/>
                <a:ea typeface="Calibri"/>
                <a:cs typeface="Calibri"/>
                <a:sym typeface="Calibri"/>
              </a:rPr>
              <a:t>Manual cert lifecycle doesn't scale beyond small teams</a:t>
            </a:r>
            <a:endParaRPr b="0" i="0" sz="1397" u="none" cap="none" strike="noStrike">
              <a:solidFill>
                <a:schemeClr val="dk1"/>
              </a:solidFill>
              <a:latin typeface="Calibri"/>
              <a:ea typeface="Calibri"/>
              <a:cs typeface="Calibri"/>
              <a:sym typeface="Calibri"/>
            </a:endParaRPr>
          </a:p>
        </p:txBody>
      </p:sp>
      <p:sp>
        <p:nvSpPr>
          <p:cNvPr id="81" name="Google Shape;81;p4"/>
          <p:cNvSpPr/>
          <p:nvPr/>
        </p:nvSpPr>
        <p:spPr>
          <a:xfrm>
            <a:off x="4857750" y="2056702"/>
            <a:ext cx="3857625" cy="342900"/>
          </a:xfrm>
          <a:prstGeom prst="rect">
            <a:avLst/>
          </a:prstGeom>
          <a:noFill/>
          <a:ln>
            <a:noFill/>
          </a:ln>
        </p:spPr>
        <p:txBody>
          <a:bodyPr anchorCtr="0" anchor="t" bIns="0" lIns="0" spcFirstLastPara="1" rIns="0" wrap="square" tIns="0">
            <a:spAutoFit/>
          </a:bodyPr>
          <a:lstStyle/>
          <a:p>
            <a:pPr indent="0" lvl="0" marL="0" marR="0" rtl="0" algn="l">
              <a:lnSpc>
                <a:spcPct val="110837"/>
              </a:lnSpc>
              <a:spcBef>
                <a:spcPts val="0"/>
              </a:spcBef>
              <a:spcAft>
                <a:spcPts val="0"/>
              </a:spcAft>
              <a:buClr>
                <a:srgbClr val="FF5F00"/>
              </a:buClr>
              <a:buSzPts val="2436"/>
              <a:buFont typeface="Calibri"/>
              <a:buNone/>
            </a:pPr>
            <a:r>
              <a:rPr b="1" i="0" lang="en-US" sz="2436" u="none" cap="none" strike="noStrike">
                <a:solidFill>
                  <a:srgbClr val="FF5F00"/>
                </a:solidFill>
                <a:latin typeface="Calibri"/>
                <a:ea typeface="Calibri"/>
                <a:cs typeface="Calibri"/>
                <a:sym typeface="Calibri"/>
              </a:rPr>
              <a:t>02</a:t>
            </a:r>
            <a:endParaRPr b="0" i="0" sz="2436" u="none" cap="none" strike="noStrike">
              <a:solidFill>
                <a:schemeClr val="dk1"/>
              </a:solidFill>
              <a:latin typeface="Calibri"/>
              <a:ea typeface="Calibri"/>
              <a:cs typeface="Calibri"/>
              <a:sym typeface="Calibri"/>
            </a:endParaRPr>
          </a:p>
        </p:txBody>
      </p:sp>
      <p:sp>
        <p:nvSpPr>
          <p:cNvPr id="82" name="Google Shape;82;p4"/>
          <p:cNvSpPr/>
          <p:nvPr/>
        </p:nvSpPr>
        <p:spPr>
          <a:xfrm>
            <a:off x="4857750" y="2506759"/>
            <a:ext cx="3857625" cy="480027"/>
          </a:xfrm>
          <a:prstGeom prst="rect">
            <a:avLst/>
          </a:prstGeom>
          <a:noFill/>
          <a:ln>
            <a:noFill/>
          </a:ln>
        </p:spPr>
        <p:txBody>
          <a:bodyPr anchorCtr="0" anchor="t" bIns="0" lIns="0" spcFirstLastPara="1" rIns="0" wrap="square" tIns="0">
            <a:spAutoFit/>
          </a:bodyPr>
          <a:lstStyle/>
          <a:p>
            <a:pPr indent="0" lvl="0" marL="0" marR="0" rtl="0" algn="l">
              <a:lnSpc>
                <a:spcPct val="136005"/>
              </a:lnSpc>
              <a:spcBef>
                <a:spcPts val="0"/>
              </a:spcBef>
              <a:spcAft>
                <a:spcPts val="0"/>
              </a:spcAft>
              <a:buClr>
                <a:srgbClr val="1A1A1A"/>
              </a:buClr>
              <a:buSzPts val="1397"/>
              <a:buFont typeface="Calibri"/>
              <a:buNone/>
            </a:pPr>
            <a:r>
              <a:rPr b="1" i="0" lang="en-US" sz="1397" u="none" cap="none" strike="noStrike">
                <a:solidFill>
                  <a:srgbClr val="1A1A1A"/>
                </a:solidFill>
                <a:latin typeface="Calibri"/>
                <a:ea typeface="Calibri"/>
                <a:cs typeface="Calibri"/>
                <a:sym typeface="Calibri"/>
              </a:rPr>
              <a:t>RBAC complexity grows exponentially with users</a:t>
            </a:r>
            <a:endParaRPr b="0" i="0" sz="1397" u="none" cap="none" strike="noStrike">
              <a:solidFill>
                <a:schemeClr val="dk1"/>
              </a:solidFill>
              <a:latin typeface="Calibri"/>
              <a:ea typeface="Calibri"/>
              <a:cs typeface="Calibri"/>
              <a:sym typeface="Calibri"/>
            </a:endParaRPr>
          </a:p>
        </p:txBody>
      </p:sp>
      <p:sp>
        <p:nvSpPr>
          <p:cNvPr id="83" name="Google Shape;83;p4"/>
          <p:cNvSpPr/>
          <p:nvPr/>
        </p:nvSpPr>
        <p:spPr>
          <a:xfrm>
            <a:off x="428625" y="3714052"/>
            <a:ext cx="3829050" cy="342900"/>
          </a:xfrm>
          <a:prstGeom prst="rect">
            <a:avLst/>
          </a:prstGeom>
          <a:noFill/>
          <a:ln>
            <a:noFill/>
          </a:ln>
        </p:spPr>
        <p:txBody>
          <a:bodyPr anchorCtr="0" anchor="t" bIns="0" lIns="0" spcFirstLastPara="1" rIns="0" wrap="square" tIns="0">
            <a:spAutoFit/>
          </a:bodyPr>
          <a:lstStyle/>
          <a:p>
            <a:pPr indent="0" lvl="0" marL="0" marR="0" rtl="0" algn="l">
              <a:lnSpc>
                <a:spcPct val="110837"/>
              </a:lnSpc>
              <a:spcBef>
                <a:spcPts val="0"/>
              </a:spcBef>
              <a:spcAft>
                <a:spcPts val="0"/>
              </a:spcAft>
              <a:buClr>
                <a:srgbClr val="FF5F00"/>
              </a:buClr>
              <a:buSzPts val="2436"/>
              <a:buFont typeface="Calibri"/>
              <a:buNone/>
            </a:pPr>
            <a:r>
              <a:rPr b="1" i="0" lang="en-US" sz="2436" u="none" cap="none" strike="noStrike">
                <a:solidFill>
                  <a:srgbClr val="FF5F00"/>
                </a:solidFill>
                <a:latin typeface="Calibri"/>
                <a:ea typeface="Calibri"/>
                <a:cs typeface="Calibri"/>
                <a:sym typeface="Calibri"/>
              </a:rPr>
              <a:t>03</a:t>
            </a:r>
            <a:endParaRPr b="0" i="0" sz="2436" u="none" cap="none" strike="noStrike">
              <a:solidFill>
                <a:schemeClr val="dk1"/>
              </a:solidFill>
              <a:latin typeface="Calibri"/>
              <a:ea typeface="Calibri"/>
              <a:cs typeface="Calibri"/>
              <a:sym typeface="Calibri"/>
            </a:endParaRPr>
          </a:p>
        </p:txBody>
      </p:sp>
      <p:sp>
        <p:nvSpPr>
          <p:cNvPr id="84" name="Google Shape;84;p4"/>
          <p:cNvSpPr/>
          <p:nvPr/>
        </p:nvSpPr>
        <p:spPr>
          <a:xfrm>
            <a:off x="428625" y="4164109"/>
            <a:ext cx="3829050" cy="480027"/>
          </a:xfrm>
          <a:prstGeom prst="rect">
            <a:avLst/>
          </a:prstGeom>
          <a:noFill/>
          <a:ln>
            <a:noFill/>
          </a:ln>
        </p:spPr>
        <p:txBody>
          <a:bodyPr anchorCtr="0" anchor="t" bIns="0" lIns="0" spcFirstLastPara="1" rIns="0" wrap="square" tIns="0">
            <a:spAutoFit/>
          </a:bodyPr>
          <a:lstStyle/>
          <a:p>
            <a:pPr indent="0" lvl="0" marL="0" marR="0" rtl="0" algn="l">
              <a:lnSpc>
                <a:spcPct val="136005"/>
              </a:lnSpc>
              <a:spcBef>
                <a:spcPts val="0"/>
              </a:spcBef>
              <a:spcAft>
                <a:spcPts val="0"/>
              </a:spcAft>
              <a:buClr>
                <a:srgbClr val="1A1A1A"/>
              </a:buClr>
              <a:buSzPts val="1397"/>
              <a:buFont typeface="Calibri"/>
              <a:buNone/>
            </a:pPr>
            <a:r>
              <a:rPr b="1" i="0" lang="en-US" sz="1397" u="none" cap="none" strike="noStrike">
                <a:solidFill>
                  <a:srgbClr val="1A1A1A"/>
                </a:solidFill>
                <a:latin typeface="Calibri"/>
                <a:ea typeface="Calibri"/>
                <a:cs typeface="Calibri"/>
                <a:sym typeface="Calibri"/>
              </a:rPr>
              <a:t>kubeconfigs are operationally fragile &amp; risky</a:t>
            </a:r>
            <a:endParaRPr b="0" i="0" sz="1397" u="none" cap="none" strike="noStrike">
              <a:solidFill>
                <a:schemeClr val="dk1"/>
              </a:solidFill>
              <a:latin typeface="Calibri"/>
              <a:ea typeface="Calibri"/>
              <a:cs typeface="Calibri"/>
              <a:sym typeface="Calibri"/>
            </a:endParaRPr>
          </a:p>
        </p:txBody>
      </p:sp>
      <p:sp>
        <p:nvSpPr>
          <p:cNvPr id="85" name="Google Shape;85;p4"/>
          <p:cNvSpPr/>
          <p:nvPr/>
        </p:nvSpPr>
        <p:spPr>
          <a:xfrm>
            <a:off x="4857750" y="3834045"/>
            <a:ext cx="3857625" cy="342900"/>
          </a:xfrm>
          <a:prstGeom prst="rect">
            <a:avLst/>
          </a:prstGeom>
          <a:noFill/>
          <a:ln>
            <a:noFill/>
          </a:ln>
        </p:spPr>
        <p:txBody>
          <a:bodyPr anchorCtr="0" anchor="t" bIns="0" lIns="0" spcFirstLastPara="1" rIns="0" wrap="square" tIns="0">
            <a:spAutoFit/>
          </a:bodyPr>
          <a:lstStyle/>
          <a:p>
            <a:pPr indent="0" lvl="0" marL="0" marR="0" rtl="0" algn="l">
              <a:lnSpc>
                <a:spcPct val="110837"/>
              </a:lnSpc>
              <a:spcBef>
                <a:spcPts val="0"/>
              </a:spcBef>
              <a:spcAft>
                <a:spcPts val="0"/>
              </a:spcAft>
              <a:buClr>
                <a:srgbClr val="FF5F00"/>
              </a:buClr>
              <a:buSzPts val="2436"/>
              <a:buFont typeface="Calibri"/>
              <a:buNone/>
            </a:pPr>
            <a:r>
              <a:rPr b="1" i="0" lang="en-US" sz="2436" u="none" cap="none" strike="noStrike">
                <a:solidFill>
                  <a:srgbClr val="FF5F00"/>
                </a:solidFill>
                <a:latin typeface="Calibri"/>
                <a:ea typeface="Calibri"/>
                <a:cs typeface="Calibri"/>
                <a:sym typeface="Calibri"/>
              </a:rPr>
              <a:t>04</a:t>
            </a:r>
            <a:endParaRPr b="0" i="0" sz="2436" u="none" cap="none" strike="noStrike">
              <a:solidFill>
                <a:schemeClr val="dk1"/>
              </a:solidFill>
              <a:latin typeface="Calibri"/>
              <a:ea typeface="Calibri"/>
              <a:cs typeface="Calibri"/>
              <a:sym typeface="Calibri"/>
            </a:endParaRPr>
          </a:p>
        </p:txBody>
      </p:sp>
      <p:sp>
        <p:nvSpPr>
          <p:cNvPr id="86" name="Google Shape;86;p4"/>
          <p:cNvSpPr/>
          <p:nvPr/>
        </p:nvSpPr>
        <p:spPr>
          <a:xfrm>
            <a:off x="4857750" y="4284101"/>
            <a:ext cx="3857625" cy="240013"/>
          </a:xfrm>
          <a:prstGeom prst="rect">
            <a:avLst/>
          </a:prstGeom>
          <a:noFill/>
          <a:ln>
            <a:noFill/>
          </a:ln>
        </p:spPr>
        <p:txBody>
          <a:bodyPr anchorCtr="0" anchor="t" bIns="0" lIns="0" spcFirstLastPara="1" rIns="0" wrap="square" tIns="0">
            <a:spAutoFit/>
          </a:bodyPr>
          <a:lstStyle/>
          <a:p>
            <a:pPr indent="0" lvl="0" marL="0" marR="0" rtl="0" algn="l">
              <a:lnSpc>
                <a:spcPct val="136005"/>
              </a:lnSpc>
              <a:spcBef>
                <a:spcPts val="0"/>
              </a:spcBef>
              <a:spcAft>
                <a:spcPts val="0"/>
              </a:spcAft>
              <a:buClr>
                <a:srgbClr val="1A1A1A"/>
              </a:buClr>
              <a:buSzPts val="1397"/>
              <a:buFont typeface="Calibri"/>
              <a:buNone/>
            </a:pPr>
            <a:r>
              <a:rPr b="1" i="0" lang="en-US" sz="1397" u="none" cap="none" strike="noStrike">
                <a:solidFill>
                  <a:srgbClr val="1A1A1A"/>
                </a:solidFill>
                <a:latin typeface="Calibri"/>
                <a:ea typeface="Calibri"/>
                <a:cs typeface="Calibri"/>
                <a:sym typeface="Calibri"/>
              </a:rPr>
              <a:t>Auditability is limited out-of-the-box</a:t>
            </a:r>
            <a:endParaRPr b="0" i="0" sz="1397" u="none" cap="none" strike="noStrike">
              <a:solidFill>
                <a:schemeClr val="dk1"/>
              </a:solidFill>
              <a:latin typeface="Calibri"/>
              <a:ea typeface="Calibri"/>
              <a:cs typeface="Calibri"/>
              <a:sym typeface="Calibri"/>
            </a:endParaRPr>
          </a:p>
        </p:txBody>
      </p:sp>
      <p:sp>
        <p:nvSpPr>
          <p:cNvPr id="87" name="Google Shape;87;p4"/>
          <p:cNvSpPr/>
          <p:nvPr/>
        </p:nvSpPr>
        <p:spPr>
          <a:xfrm>
            <a:off x="8539683" y="4582716"/>
            <a:ext cx="318567" cy="275034"/>
          </a:xfrm>
          <a:prstGeom prst="rect">
            <a:avLst/>
          </a:prstGeom>
          <a:noFill/>
          <a:ln>
            <a:noFill/>
          </a:ln>
        </p:spPr>
        <p:txBody>
          <a:bodyPr anchorCtr="0" anchor="t" bIns="42525" lIns="85075" spcFirstLastPara="1" rIns="85075" wrap="square" tIns="42525">
            <a:spAutoFit/>
          </a:bodyPr>
          <a:lstStyle/>
          <a:p>
            <a:pPr indent="0" lvl="0" marL="0" marR="0" rtl="0" algn="l">
              <a:lnSpc>
                <a:spcPct val="127388"/>
              </a:lnSpc>
              <a:spcBef>
                <a:spcPts val="0"/>
              </a:spcBef>
              <a:spcAft>
                <a:spcPts val="0"/>
              </a:spcAft>
              <a:buClr>
                <a:srgbClr val="1A1A1A"/>
              </a:buClr>
              <a:buSzPts val="942"/>
              <a:buFont typeface="Calibri"/>
              <a:buNone/>
            </a:pPr>
            <a:r>
              <a:rPr b="0" i="0" lang="en-US" sz="942" u="none" cap="none" strike="noStrike">
                <a:solidFill>
                  <a:srgbClr val="1A1A1A"/>
                </a:solidFill>
                <a:latin typeface="Calibri"/>
                <a:ea typeface="Calibri"/>
                <a:cs typeface="Calibri"/>
                <a:sym typeface="Calibri"/>
              </a:rPr>
              <a:t>04</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descr="preencoded.png" id="93" name="Google Shape;93;p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94" name="Google Shape;94;p5"/>
          <p:cNvSpPr/>
          <p:nvPr/>
        </p:nvSpPr>
        <p:spPr>
          <a:xfrm>
            <a:off x="0" y="0"/>
            <a:ext cx="9144000" cy="1857375"/>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5"/>
          <p:cNvSpPr/>
          <p:nvPr/>
        </p:nvSpPr>
        <p:spPr>
          <a:xfrm>
            <a:off x="0" y="1828800"/>
            <a:ext cx="9144000" cy="28575"/>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
          <p:cNvSpPr/>
          <p:nvPr/>
        </p:nvSpPr>
        <p:spPr>
          <a:xfrm>
            <a:off x="0" y="0"/>
            <a:ext cx="4572000" cy="185737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4564856" y="0"/>
            <a:ext cx="7144" cy="1857375"/>
          </a:xfrm>
          <a:prstGeom prst="rect">
            <a:avLst/>
          </a:pr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5"/>
          <p:cNvSpPr/>
          <p:nvPr/>
        </p:nvSpPr>
        <p:spPr>
          <a:xfrm>
            <a:off x="428625" y="605823"/>
            <a:ext cx="2571080" cy="822927"/>
          </a:xfrm>
          <a:prstGeom prst="rect">
            <a:avLst/>
          </a:prstGeom>
          <a:noFill/>
          <a:ln>
            <a:noFill/>
          </a:ln>
        </p:spPr>
        <p:txBody>
          <a:bodyPr anchorCtr="0" anchor="t" bIns="0" lIns="0" spcFirstLastPara="1" rIns="0" wrap="square" tIns="0">
            <a:spAutoFit/>
          </a:bodyPr>
          <a:lstStyle/>
          <a:p>
            <a:pPr indent="0" lvl="0" marL="0" marR="0" rtl="0" algn="l">
              <a:lnSpc>
                <a:spcPct val="97175"/>
              </a:lnSpc>
              <a:spcBef>
                <a:spcPts val="0"/>
              </a:spcBef>
              <a:spcAft>
                <a:spcPts val="0"/>
              </a:spcAft>
              <a:buClr>
                <a:srgbClr val="0047BB"/>
              </a:buClr>
              <a:buSzPts val="3293"/>
              <a:buFont typeface="Calibri"/>
              <a:buNone/>
            </a:pPr>
            <a:r>
              <a:rPr b="1" i="0" lang="en-US" sz="3293" u="none" cap="none" strike="noStrike">
                <a:solidFill>
                  <a:srgbClr val="0047BB"/>
                </a:solidFill>
                <a:latin typeface="Calibri"/>
                <a:ea typeface="Calibri"/>
                <a:cs typeface="Calibri"/>
                <a:sym typeface="Calibri"/>
              </a:rPr>
              <a:t>Next</a:t>
            </a:r>
            <a:br>
              <a:rPr b="1" i="0" lang="en-US" sz="3293" u="none" cap="none" strike="noStrike">
                <a:solidFill>
                  <a:srgbClr val="0047BB"/>
                </a:solidFill>
                <a:latin typeface="Calibri"/>
                <a:ea typeface="Calibri"/>
                <a:cs typeface="Calibri"/>
                <a:sym typeface="Calibri"/>
              </a:rPr>
            </a:br>
            <a:r>
              <a:rPr b="1" i="0" lang="en-US" sz="3293" u="none" cap="none" strike="noStrike">
                <a:solidFill>
                  <a:srgbClr val="0047BB"/>
                </a:solidFill>
                <a:latin typeface="Calibri"/>
                <a:ea typeface="Calibri"/>
                <a:cs typeface="Calibri"/>
                <a:sym typeface="Calibri"/>
              </a:rPr>
              <a:t>Iterations</a:t>
            </a:r>
            <a:endParaRPr b="0" i="0" sz="3293" u="none" cap="none" strike="noStrike">
              <a:solidFill>
                <a:schemeClr val="dk1"/>
              </a:solidFill>
              <a:latin typeface="Calibri"/>
              <a:ea typeface="Calibri"/>
              <a:cs typeface="Calibri"/>
              <a:sym typeface="Calibri"/>
            </a:endParaRPr>
          </a:p>
        </p:txBody>
      </p:sp>
      <p:pic>
        <p:nvPicPr>
          <p:cNvPr descr="preencoded.png" id="99" name="Google Shape;99;p5"/>
          <p:cNvPicPr preferRelativeResize="0"/>
          <p:nvPr/>
        </p:nvPicPr>
        <p:blipFill rotWithShape="1">
          <a:blip r:embed="rId4">
            <a:alphaModFix/>
          </a:blip>
          <a:srcRect b="0" l="0" r="0" t="0"/>
          <a:stretch/>
        </p:blipFill>
        <p:spPr>
          <a:xfrm>
            <a:off x="4572000" y="0"/>
            <a:ext cx="4572000" cy="1857375"/>
          </a:xfrm>
          <a:prstGeom prst="rect">
            <a:avLst/>
          </a:prstGeom>
          <a:noFill/>
          <a:ln>
            <a:noFill/>
          </a:ln>
        </p:spPr>
      </p:pic>
      <p:sp>
        <p:nvSpPr>
          <p:cNvPr id="100" name="Google Shape;100;p5"/>
          <p:cNvSpPr/>
          <p:nvPr/>
        </p:nvSpPr>
        <p:spPr>
          <a:xfrm>
            <a:off x="428625" y="2143125"/>
            <a:ext cx="3707606" cy="194667"/>
          </a:xfrm>
          <a:prstGeom prst="rect">
            <a:avLst/>
          </a:prstGeom>
          <a:noFill/>
          <a:ln>
            <a:noFill/>
          </a:ln>
        </p:spPr>
        <p:txBody>
          <a:bodyPr anchorCtr="0" anchor="t" bIns="0" lIns="0" spcFirstLastPara="1" rIns="0" wrap="square" tIns="0">
            <a:spAutoFit/>
          </a:bodyPr>
          <a:lstStyle/>
          <a:p>
            <a:pPr indent="0" lvl="0" marL="0" marR="0" rtl="0" algn="l">
              <a:lnSpc>
                <a:spcPct val="141843"/>
              </a:lnSpc>
              <a:spcBef>
                <a:spcPts val="0"/>
              </a:spcBef>
              <a:spcAft>
                <a:spcPts val="0"/>
              </a:spcAft>
              <a:buClr>
                <a:srgbClr val="FF5F00"/>
              </a:buClr>
              <a:buSzPts val="987"/>
              <a:buFont typeface="Calibri"/>
              <a:buNone/>
            </a:pPr>
            <a:r>
              <a:rPr b="1" i="0" lang="en-US" sz="987" u="none" cap="none" strike="noStrike">
                <a:solidFill>
                  <a:srgbClr val="FF5F00"/>
                </a:solidFill>
                <a:latin typeface="Calibri"/>
                <a:ea typeface="Calibri"/>
                <a:cs typeface="Calibri"/>
                <a:sym typeface="Calibri"/>
              </a:rPr>
              <a:t>01 // GITOPS</a:t>
            </a:r>
            <a:endParaRPr b="0" i="0" sz="987" u="none" cap="none" strike="noStrike">
              <a:solidFill>
                <a:schemeClr val="dk1"/>
              </a:solidFill>
              <a:latin typeface="Calibri"/>
              <a:ea typeface="Calibri"/>
              <a:cs typeface="Calibri"/>
              <a:sym typeface="Calibri"/>
            </a:endParaRPr>
          </a:p>
        </p:txBody>
      </p:sp>
      <p:sp>
        <p:nvSpPr>
          <p:cNvPr id="101" name="Google Shape;101;p5"/>
          <p:cNvSpPr/>
          <p:nvPr/>
        </p:nvSpPr>
        <p:spPr>
          <a:xfrm>
            <a:off x="428625" y="2444948"/>
            <a:ext cx="3707606" cy="273248"/>
          </a:xfrm>
          <a:prstGeom prst="rect">
            <a:avLst/>
          </a:prstGeom>
          <a:noFill/>
          <a:ln>
            <a:noFill/>
          </a:ln>
        </p:spPr>
        <p:txBody>
          <a:bodyPr anchorCtr="0" anchor="t" bIns="0" lIns="0" spcFirstLastPara="1" rIns="0" wrap="square" tIns="0">
            <a:spAutoFit/>
          </a:bodyPr>
          <a:lstStyle/>
          <a:p>
            <a:pPr indent="0" lvl="0" marL="0" marR="0" rtl="0" algn="l">
              <a:lnSpc>
                <a:spcPct val="136005"/>
              </a:lnSpc>
              <a:spcBef>
                <a:spcPts val="0"/>
              </a:spcBef>
              <a:spcAft>
                <a:spcPts val="0"/>
              </a:spcAft>
              <a:buClr>
                <a:srgbClr val="1A1A1A"/>
              </a:buClr>
              <a:buSzPts val="1397"/>
              <a:buFont typeface="Calibri"/>
              <a:buNone/>
            </a:pPr>
            <a:r>
              <a:rPr b="1" i="0" lang="en-US" sz="1397" u="none" cap="none" strike="noStrike">
                <a:solidFill>
                  <a:srgbClr val="1A1A1A"/>
                </a:solidFill>
                <a:latin typeface="Calibri"/>
                <a:ea typeface="Calibri"/>
                <a:cs typeface="Calibri"/>
                <a:sym typeface="Calibri"/>
              </a:rPr>
              <a:t>App Lifecycle</a:t>
            </a:r>
            <a:endParaRPr b="0" i="0" sz="1397" u="none" cap="none" strike="noStrike">
              <a:solidFill>
                <a:schemeClr val="dk1"/>
              </a:solidFill>
              <a:latin typeface="Calibri"/>
              <a:ea typeface="Calibri"/>
              <a:cs typeface="Calibri"/>
              <a:sym typeface="Calibri"/>
            </a:endParaRPr>
          </a:p>
        </p:txBody>
      </p:sp>
      <p:sp>
        <p:nvSpPr>
          <p:cNvPr id="102" name="Google Shape;102;p5"/>
          <p:cNvSpPr/>
          <p:nvPr/>
        </p:nvSpPr>
        <p:spPr>
          <a:xfrm>
            <a:off x="428625" y="2789634"/>
            <a:ext cx="3336829" cy="360034"/>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444444"/>
              </a:buClr>
              <a:buSzPts val="942"/>
              <a:buFont typeface="Calibri"/>
              <a:buNone/>
            </a:pPr>
            <a:r>
              <a:rPr b="0" i="0" lang="en-US" sz="942" u="none" cap="none" strike="noStrike">
                <a:solidFill>
                  <a:srgbClr val="444444"/>
                </a:solidFill>
                <a:latin typeface="Calibri"/>
                <a:ea typeface="Calibri"/>
                <a:cs typeface="Calibri"/>
                <a:sym typeface="Calibri"/>
              </a:rPr>
              <a:t>Adopt GitOps workflows (ArgoCD, Flux) for consistent application delivery.</a:t>
            </a:r>
            <a:endParaRPr b="0" i="0" sz="942" u="none" cap="none" strike="noStrike">
              <a:solidFill>
                <a:schemeClr val="dk1"/>
              </a:solidFill>
              <a:latin typeface="Calibri"/>
              <a:ea typeface="Calibri"/>
              <a:cs typeface="Calibri"/>
              <a:sym typeface="Calibri"/>
            </a:endParaRPr>
          </a:p>
        </p:txBody>
      </p:sp>
      <p:sp>
        <p:nvSpPr>
          <p:cNvPr id="103" name="Google Shape;103;p5"/>
          <p:cNvSpPr/>
          <p:nvPr/>
        </p:nvSpPr>
        <p:spPr>
          <a:xfrm>
            <a:off x="5000625" y="2143125"/>
            <a:ext cx="3714750" cy="194667"/>
          </a:xfrm>
          <a:prstGeom prst="rect">
            <a:avLst/>
          </a:prstGeom>
          <a:noFill/>
          <a:ln>
            <a:noFill/>
          </a:ln>
        </p:spPr>
        <p:txBody>
          <a:bodyPr anchorCtr="0" anchor="t" bIns="0" lIns="0" spcFirstLastPara="1" rIns="0" wrap="square" tIns="0">
            <a:spAutoFit/>
          </a:bodyPr>
          <a:lstStyle/>
          <a:p>
            <a:pPr indent="0" lvl="0" marL="0" marR="0" rtl="0" algn="l">
              <a:lnSpc>
                <a:spcPct val="141843"/>
              </a:lnSpc>
              <a:spcBef>
                <a:spcPts val="0"/>
              </a:spcBef>
              <a:spcAft>
                <a:spcPts val="0"/>
              </a:spcAft>
              <a:buClr>
                <a:srgbClr val="FF5F00"/>
              </a:buClr>
              <a:buSzPts val="987"/>
              <a:buFont typeface="Calibri"/>
              <a:buNone/>
            </a:pPr>
            <a:r>
              <a:rPr b="1" i="0" lang="en-US" sz="987" u="none" cap="none" strike="noStrike">
                <a:solidFill>
                  <a:srgbClr val="FF5F00"/>
                </a:solidFill>
                <a:latin typeface="Calibri"/>
                <a:ea typeface="Calibri"/>
                <a:cs typeface="Calibri"/>
                <a:sym typeface="Calibri"/>
              </a:rPr>
              <a:t>02 // IDENTITY</a:t>
            </a:r>
            <a:endParaRPr b="0" i="0" sz="987" u="none" cap="none" strike="noStrike">
              <a:solidFill>
                <a:schemeClr val="dk1"/>
              </a:solidFill>
              <a:latin typeface="Calibri"/>
              <a:ea typeface="Calibri"/>
              <a:cs typeface="Calibri"/>
              <a:sym typeface="Calibri"/>
            </a:endParaRPr>
          </a:p>
        </p:txBody>
      </p:sp>
      <p:sp>
        <p:nvSpPr>
          <p:cNvPr id="104" name="Google Shape;104;p5"/>
          <p:cNvSpPr/>
          <p:nvPr/>
        </p:nvSpPr>
        <p:spPr>
          <a:xfrm>
            <a:off x="5000625" y="2444948"/>
            <a:ext cx="3714750" cy="273248"/>
          </a:xfrm>
          <a:prstGeom prst="rect">
            <a:avLst/>
          </a:prstGeom>
          <a:noFill/>
          <a:ln>
            <a:noFill/>
          </a:ln>
        </p:spPr>
        <p:txBody>
          <a:bodyPr anchorCtr="0" anchor="t" bIns="0" lIns="0" spcFirstLastPara="1" rIns="0" wrap="square" tIns="0">
            <a:spAutoFit/>
          </a:bodyPr>
          <a:lstStyle/>
          <a:p>
            <a:pPr indent="0" lvl="0" marL="0" marR="0" rtl="0" algn="l">
              <a:lnSpc>
                <a:spcPct val="136005"/>
              </a:lnSpc>
              <a:spcBef>
                <a:spcPts val="0"/>
              </a:spcBef>
              <a:spcAft>
                <a:spcPts val="0"/>
              </a:spcAft>
              <a:buClr>
                <a:srgbClr val="1A1A1A"/>
              </a:buClr>
              <a:buSzPts val="1397"/>
              <a:buFont typeface="Calibri"/>
              <a:buNone/>
            </a:pPr>
            <a:r>
              <a:rPr b="1" i="0" lang="en-US" sz="1397" u="none" cap="none" strike="noStrike">
                <a:solidFill>
                  <a:srgbClr val="1A1A1A"/>
                </a:solidFill>
                <a:latin typeface="Calibri"/>
                <a:ea typeface="Calibri"/>
                <a:cs typeface="Calibri"/>
                <a:sym typeface="Calibri"/>
              </a:rPr>
              <a:t>Automated Rotation</a:t>
            </a:r>
            <a:endParaRPr b="0" i="0" sz="1397" u="none" cap="none" strike="noStrike">
              <a:solidFill>
                <a:schemeClr val="dk1"/>
              </a:solidFill>
              <a:latin typeface="Calibri"/>
              <a:ea typeface="Calibri"/>
              <a:cs typeface="Calibri"/>
              <a:sym typeface="Calibri"/>
            </a:endParaRPr>
          </a:p>
        </p:txBody>
      </p:sp>
      <p:sp>
        <p:nvSpPr>
          <p:cNvPr id="105" name="Google Shape;105;p5"/>
          <p:cNvSpPr/>
          <p:nvPr/>
        </p:nvSpPr>
        <p:spPr>
          <a:xfrm>
            <a:off x="5000625" y="2789634"/>
            <a:ext cx="3343275" cy="360034"/>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444444"/>
              </a:buClr>
              <a:buSzPts val="942"/>
              <a:buFont typeface="Calibri"/>
              <a:buNone/>
            </a:pPr>
            <a:r>
              <a:rPr b="0" i="0" lang="en-US" sz="942" u="none" cap="none" strike="noStrike">
                <a:solidFill>
                  <a:srgbClr val="444444"/>
                </a:solidFill>
                <a:latin typeface="Calibri"/>
                <a:ea typeface="Calibri"/>
                <a:cs typeface="Calibri"/>
                <a:sym typeface="Calibri"/>
              </a:rPr>
              <a:t>Replace manual processes with automated identity and certificate rotation.</a:t>
            </a:r>
            <a:endParaRPr b="0" i="0" sz="942" u="none" cap="none" strike="noStrike">
              <a:solidFill>
                <a:schemeClr val="dk1"/>
              </a:solidFill>
              <a:latin typeface="Calibri"/>
              <a:ea typeface="Calibri"/>
              <a:cs typeface="Calibri"/>
              <a:sym typeface="Calibri"/>
            </a:endParaRPr>
          </a:p>
        </p:txBody>
      </p:sp>
      <p:sp>
        <p:nvSpPr>
          <p:cNvPr id="106" name="Google Shape;106;p5"/>
          <p:cNvSpPr/>
          <p:nvPr/>
        </p:nvSpPr>
        <p:spPr>
          <a:xfrm>
            <a:off x="428625" y="3786188"/>
            <a:ext cx="3707606" cy="194667"/>
          </a:xfrm>
          <a:prstGeom prst="rect">
            <a:avLst/>
          </a:prstGeom>
          <a:noFill/>
          <a:ln>
            <a:noFill/>
          </a:ln>
        </p:spPr>
        <p:txBody>
          <a:bodyPr anchorCtr="0" anchor="t" bIns="0" lIns="0" spcFirstLastPara="1" rIns="0" wrap="square" tIns="0">
            <a:spAutoFit/>
          </a:bodyPr>
          <a:lstStyle/>
          <a:p>
            <a:pPr indent="0" lvl="0" marL="0" marR="0" rtl="0" algn="l">
              <a:lnSpc>
                <a:spcPct val="141843"/>
              </a:lnSpc>
              <a:spcBef>
                <a:spcPts val="0"/>
              </a:spcBef>
              <a:spcAft>
                <a:spcPts val="0"/>
              </a:spcAft>
              <a:buClr>
                <a:srgbClr val="FF5F00"/>
              </a:buClr>
              <a:buSzPts val="987"/>
              <a:buFont typeface="Calibri"/>
              <a:buNone/>
            </a:pPr>
            <a:r>
              <a:rPr b="1" i="0" lang="en-US" sz="987" u="none" cap="none" strike="noStrike">
                <a:solidFill>
                  <a:srgbClr val="FF5F00"/>
                </a:solidFill>
                <a:latin typeface="Calibri"/>
                <a:ea typeface="Calibri"/>
                <a:cs typeface="Calibri"/>
                <a:sym typeface="Calibri"/>
              </a:rPr>
              <a:t>03 // VISIBILITY</a:t>
            </a:r>
            <a:endParaRPr b="0" i="0" sz="987" u="none" cap="none" strike="noStrike">
              <a:solidFill>
                <a:schemeClr val="dk1"/>
              </a:solidFill>
              <a:latin typeface="Calibri"/>
              <a:ea typeface="Calibri"/>
              <a:cs typeface="Calibri"/>
              <a:sym typeface="Calibri"/>
            </a:endParaRPr>
          </a:p>
        </p:txBody>
      </p:sp>
      <p:sp>
        <p:nvSpPr>
          <p:cNvPr id="107" name="Google Shape;107;p5"/>
          <p:cNvSpPr/>
          <p:nvPr/>
        </p:nvSpPr>
        <p:spPr>
          <a:xfrm>
            <a:off x="428625" y="4088011"/>
            <a:ext cx="3707606" cy="273248"/>
          </a:xfrm>
          <a:prstGeom prst="rect">
            <a:avLst/>
          </a:prstGeom>
          <a:noFill/>
          <a:ln>
            <a:noFill/>
          </a:ln>
        </p:spPr>
        <p:txBody>
          <a:bodyPr anchorCtr="0" anchor="t" bIns="0" lIns="0" spcFirstLastPara="1" rIns="0" wrap="square" tIns="0">
            <a:spAutoFit/>
          </a:bodyPr>
          <a:lstStyle/>
          <a:p>
            <a:pPr indent="0" lvl="0" marL="0" marR="0" rtl="0" algn="l">
              <a:lnSpc>
                <a:spcPct val="136005"/>
              </a:lnSpc>
              <a:spcBef>
                <a:spcPts val="0"/>
              </a:spcBef>
              <a:spcAft>
                <a:spcPts val="0"/>
              </a:spcAft>
              <a:buClr>
                <a:srgbClr val="1A1A1A"/>
              </a:buClr>
              <a:buSzPts val="1397"/>
              <a:buFont typeface="Calibri"/>
              <a:buNone/>
            </a:pPr>
            <a:r>
              <a:rPr b="1" i="0" lang="en-US" sz="1397" u="none" cap="none" strike="noStrike">
                <a:solidFill>
                  <a:srgbClr val="1A1A1A"/>
                </a:solidFill>
                <a:latin typeface="Calibri"/>
                <a:ea typeface="Calibri"/>
                <a:cs typeface="Calibri"/>
                <a:sym typeface="Calibri"/>
              </a:rPr>
              <a:t>Audit &amp; Access</a:t>
            </a:r>
            <a:endParaRPr b="0" i="0" sz="1397" u="none" cap="none" strike="noStrike">
              <a:solidFill>
                <a:schemeClr val="dk1"/>
              </a:solidFill>
              <a:latin typeface="Calibri"/>
              <a:ea typeface="Calibri"/>
              <a:cs typeface="Calibri"/>
              <a:sym typeface="Calibri"/>
            </a:endParaRPr>
          </a:p>
        </p:txBody>
      </p:sp>
      <p:sp>
        <p:nvSpPr>
          <p:cNvPr id="108" name="Google Shape;108;p5"/>
          <p:cNvSpPr/>
          <p:nvPr/>
        </p:nvSpPr>
        <p:spPr>
          <a:xfrm>
            <a:off x="428625" y="4432697"/>
            <a:ext cx="3336829" cy="360034"/>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444444"/>
              </a:buClr>
              <a:buSzPts val="942"/>
              <a:buFont typeface="Calibri"/>
              <a:buNone/>
            </a:pPr>
            <a:r>
              <a:rPr b="0" i="0" lang="en-US" sz="942" u="none" cap="none" strike="noStrike">
                <a:solidFill>
                  <a:srgbClr val="444444"/>
                </a:solidFill>
                <a:latin typeface="Calibri"/>
                <a:ea typeface="Calibri"/>
                <a:cs typeface="Calibri"/>
                <a:sym typeface="Calibri"/>
              </a:rPr>
              <a:t>Implement stronger audit logging and granular access visibility tools.</a:t>
            </a:r>
            <a:endParaRPr b="0" i="0" sz="942" u="none" cap="none" strike="noStrike">
              <a:solidFill>
                <a:schemeClr val="dk1"/>
              </a:solidFill>
              <a:latin typeface="Calibri"/>
              <a:ea typeface="Calibri"/>
              <a:cs typeface="Calibri"/>
              <a:sym typeface="Calibri"/>
            </a:endParaRPr>
          </a:p>
        </p:txBody>
      </p:sp>
      <p:sp>
        <p:nvSpPr>
          <p:cNvPr id="109" name="Google Shape;109;p5"/>
          <p:cNvSpPr/>
          <p:nvPr/>
        </p:nvSpPr>
        <p:spPr>
          <a:xfrm>
            <a:off x="5000625" y="3786188"/>
            <a:ext cx="3714750" cy="194667"/>
          </a:xfrm>
          <a:prstGeom prst="rect">
            <a:avLst/>
          </a:prstGeom>
          <a:noFill/>
          <a:ln>
            <a:noFill/>
          </a:ln>
        </p:spPr>
        <p:txBody>
          <a:bodyPr anchorCtr="0" anchor="t" bIns="0" lIns="0" spcFirstLastPara="1" rIns="0" wrap="square" tIns="0">
            <a:spAutoFit/>
          </a:bodyPr>
          <a:lstStyle/>
          <a:p>
            <a:pPr indent="0" lvl="0" marL="0" marR="0" rtl="0" algn="l">
              <a:lnSpc>
                <a:spcPct val="141843"/>
              </a:lnSpc>
              <a:spcBef>
                <a:spcPts val="0"/>
              </a:spcBef>
              <a:spcAft>
                <a:spcPts val="0"/>
              </a:spcAft>
              <a:buClr>
                <a:srgbClr val="FF5F00"/>
              </a:buClr>
              <a:buSzPts val="987"/>
              <a:buFont typeface="Calibri"/>
              <a:buNone/>
            </a:pPr>
            <a:r>
              <a:rPr b="1" i="0" lang="en-US" sz="987" u="none" cap="none" strike="noStrike">
                <a:solidFill>
                  <a:srgbClr val="FF5F00"/>
                </a:solidFill>
                <a:latin typeface="Calibri"/>
                <a:ea typeface="Calibri"/>
                <a:cs typeface="Calibri"/>
                <a:sym typeface="Calibri"/>
              </a:rPr>
              <a:t>04 // ARCHITECTURE</a:t>
            </a:r>
            <a:endParaRPr b="0" i="0" sz="987" u="none" cap="none" strike="noStrike">
              <a:solidFill>
                <a:schemeClr val="dk1"/>
              </a:solidFill>
              <a:latin typeface="Calibri"/>
              <a:ea typeface="Calibri"/>
              <a:cs typeface="Calibri"/>
              <a:sym typeface="Calibri"/>
            </a:endParaRPr>
          </a:p>
        </p:txBody>
      </p:sp>
      <p:sp>
        <p:nvSpPr>
          <p:cNvPr id="110" name="Google Shape;110;p5"/>
          <p:cNvSpPr/>
          <p:nvPr/>
        </p:nvSpPr>
        <p:spPr>
          <a:xfrm>
            <a:off x="5000625" y="4088011"/>
            <a:ext cx="3714750" cy="273248"/>
          </a:xfrm>
          <a:prstGeom prst="rect">
            <a:avLst/>
          </a:prstGeom>
          <a:noFill/>
          <a:ln>
            <a:noFill/>
          </a:ln>
        </p:spPr>
        <p:txBody>
          <a:bodyPr anchorCtr="0" anchor="t" bIns="0" lIns="0" spcFirstLastPara="1" rIns="0" wrap="square" tIns="0">
            <a:spAutoFit/>
          </a:bodyPr>
          <a:lstStyle/>
          <a:p>
            <a:pPr indent="0" lvl="0" marL="0" marR="0" rtl="0" algn="l">
              <a:lnSpc>
                <a:spcPct val="136005"/>
              </a:lnSpc>
              <a:spcBef>
                <a:spcPts val="0"/>
              </a:spcBef>
              <a:spcAft>
                <a:spcPts val="0"/>
              </a:spcAft>
              <a:buClr>
                <a:srgbClr val="1A1A1A"/>
              </a:buClr>
              <a:buSzPts val="1397"/>
              <a:buFont typeface="Calibri"/>
              <a:buNone/>
            </a:pPr>
            <a:r>
              <a:rPr b="1" i="0" lang="en-US" sz="1397" u="none" cap="none" strike="noStrike">
                <a:solidFill>
                  <a:srgbClr val="1A1A1A"/>
                </a:solidFill>
                <a:latin typeface="Calibri"/>
                <a:ea typeface="Calibri"/>
                <a:cs typeface="Calibri"/>
                <a:sym typeface="Calibri"/>
              </a:rPr>
              <a:t>Separation of Concerns</a:t>
            </a:r>
            <a:endParaRPr b="0" i="0" sz="1397" u="none" cap="none" strike="noStrike">
              <a:solidFill>
                <a:schemeClr val="dk1"/>
              </a:solidFill>
              <a:latin typeface="Calibri"/>
              <a:ea typeface="Calibri"/>
              <a:cs typeface="Calibri"/>
              <a:sym typeface="Calibri"/>
            </a:endParaRPr>
          </a:p>
        </p:txBody>
      </p:sp>
      <p:sp>
        <p:nvSpPr>
          <p:cNvPr id="111" name="Google Shape;111;p5"/>
          <p:cNvSpPr/>
          <p:nvPr/>
        </p:nvSpPr>
        <p:spPr>
          <a:xfrm>
            <a:off x="5000625" y="4432697"/>
            <a:ext cx="3343275" cy="360034"/>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444444"/>
              </a:buClr>
              <a:buSzPts val="942"/>
              <a:buFont typeface="Calibri"/>
              <a:buNone/>
            </a:pPr>
            <a:r>
              <a:rPr b="0" i="0" lang="en-US" sz="942" u="none" cap="none" strike="noStrike">
                <a:solidFill>
                  <a:srgbClr val="444444"/>
                </a:solidFill>
                <a:latin typeface="Calibri"/>
                <a:ea typeface="Calibri"/>
                <a:cs typeface="Calibri"/>
                <a:sym typeface="Calibri"/>
              </a:rPr>
              <a:t>Enforce clear boundaries between platform infrastructure and application layers.</a:t>
            </a:r>
            <a:endParaRPr b="0" i="0" sz="942" u="none" cap="none" strike="noStrike">
              <a:solidFill>
                <a:schemeClr val="dk1"/>
              </a:solidFill>
              <a:latin typeface="Calibri"/>
              <a:ea typeface="Calibri"/>
              <a:cs typeface="Calibri"/>
              <a:sym typeface="Calibri"/>
            </a:endParaRPr>
          </a:p>
        </p:txBody>
      </p:sp>
      <p:sp>
        <p:nvSpPr>
          <p:cNvPr id="112" name="Google Shape;112;p5"/>
          <p:cNvSpPr/>
          <p:nvPr/>
        </p:nvSpPr>
        <p:spPr>
          <a:xfrm>
            <a:off x="8625408" y="4668441"/>
            <a:ext cx="304279" cy="260747"/>
          </a:xfrm>
          <a:prstGeom prst="rect">
            <a:avLst/>
          </a:prstGeom>
          <a:noFill/>
          <a:ln>
            <a:noFill/>
          </a:ln>
        </p:spPr>
        <p:txBody>
          <a:bodyPr anchorCtr="0" anchor="t" bIns="42525" lIns="85075" spcFirstLastPara="1" rIns="85075" wrap="square" tIns="42525">
            <a:spAutoFit/>
          </a:bodyPr>
          <a:lstStyle/>
          <a:p>
            <a:pPr indent="0" lvl="0" marL="0" marR="0" rtl="0" algn="l">
              <a:lnSpc>
                <a:spcPct val="127388"/>
              </a:lnSpc>
              <a:spcBef>
                <a:spcPts val="0"/>
              </a:spcBef>
              <a:spcAft>
                <a:spcPts val="0"/>
              </a:spcAft>
              <a:buClr>
                <a:srgbClr val="1A1A1A"/>
              </a:buClr>
              <a:buSzPts val="942"/>
              <a:buFont typeface="Calibri"/>
              <a:buNone/>
            </a:pPr>
            <a:r>
              <a:rPr b="0" i="0" lang="en-US" sz="942" u="none" cap="none" strike="noStrike">
                <a:solidFill>
                  <a:srgbClr val="1A1A1A"/>
                </a:solidFill>
                <a:latin typeface="Calibri"/>
                <a:ea typeface="Calibri"/>
                <a:cs typeface="Calibri"/>
                <a:sym typeface="Calibri"/>
              </a:rPr>
              <a:t>05</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2026-01-26T17:01:48Z</dcterms:created>
  <dc:creator>PptxGenJS</dc:creator>
</cp:coreProperties>
</file>